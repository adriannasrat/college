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6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3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8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4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95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2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6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0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1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2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FF3597-294D-4BCC-9A3B-F73618BF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4B0B7-DAE1-1FE2-0C00-EAFE96722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361" y="720435"/>
            <a:ext cx="6397165" cy="15073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Ontology-Based Enterprise Description of Nordic Learning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662D7-381F-C915-C495-DB10D1B3D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361" y="2427316"/>
            <a:ext cx="6397165" cy="3513514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/>
          </a:p>
          <a:p>
            <a:r>
              <a:rPr lang="en-US" dirty="0"/>
              <a:t>Seminar 4 – Knowledge Management &amp; Ontologies (OWL)</a:t>
            </a:r>
          </a:p>
          <a:p>
            <a:endParaRPr lang="en-US" dirty="0"/>
          </a:p>
          <a:p>
            <a:r>
              <a:rPr lang="en-US" dirty="0"/>
              <a:t>Presented by Group 4 </a:t>
            </a:r>
            <a:r>
              <a:rPr lang="en-US"/>
              <a:t>– Adrian </a:t>
            </a:r>
            <a:r>
              <a:rPr lang="en-US" dirty="0"/>
              <a:t>Nasrat, Diana </a:t>
            </a:r>
            <a:r>
              <a:rPr lang="en-US" dirty="0" err="1"/>
              <a:t>Dawidi</a:t>
            </a:r>
            <a:r>
              <a:rPr lang="en-US" dirty="0"/>
              <a:t>, </a:t>
            </a:r>
            <a:r>
              <a:rPr lang="en-US" dirty="0" err="1"/>
              <a:t>Tesnim</a:t>
            </a:r>
            <a:r>
              <a:rPr lang="en-US" dirty="0"/>
              <a:t> Omran, Ibrahim </a:t>
            </a:r>
            <a:r>
              <a:rPr lang="en-US" dirty="0" err="1"/>
              <a:t>Mizher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95A814-33CD-4A6C-8F2B-378289D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640" y="-148"/>
            <a:ext cx="3495360" cy="34014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79214A-A9B1-4E84-BF32-CA24669E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95889" y="-5385"/>
            <a:ext cx="3496111" cy="340144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6A719-CC4C-9AD2-1410-F1794BDB4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0" r="18949" b="-1"/>
          <a:stretch>
            <a:fillRect/>
          </a:stretch>
        </p:blipFill>
        <p:spPr>
          <a:xfrm>
            <a:off x="8696640" y="3396062"/>
            <a:ext cx="3496111" cy="3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3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3777-36F1-05FC-701B-F417AE57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Ontology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4F00-D305-C53A-1790-1AE892BE6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knowledge management in the enterprise</a:t>
            </a:r>
          </a:p>
          <a:p>
            <a:r>
              <a:rPr lang="en-US" dirty="0"/>
              <a:t>Provide a shared understanding of key concepts</a:t>
            </a:r>
          </a:p>
          <a:p>
            <a:r>
              <a:rPr lang="en-US" dirty="0"/>
              <a:t>Extend the ER model with semantic meaning</a:t>
            </a:r>
          </a:p>
          <a:p>
            <a:r>
              <a:rPr lang="en-US" dirty="0"/>
              <a:t>Enable reasoning and consistency checking</a:t>
            </a:r>
          </a:p>
        </p:txBody>
      </p:sp>
    </p:spTree>
    <p:extLst>
      <p:ext uri="{BB962C8B-B14F-4D97-AF65-F5344CB8AC3E}">
        <p14:creationId xmlns:p14="http://schemas.microsoft.com/office/powerpoint/2010/main" val="2187620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43AD1-07D0-C87A-F74A-DCAD5927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/>
              <a:t>Class Hierarchy (Classes &amp; Subclasses)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AB060-202B-F434-7610-3F2306482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r>
              <a:rPr lang="en-US" dirty="0"/>
              <a:t>Stakeholder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InternalStakeholder</a:t>
            </a:r>
            <a:r>
              <a:rPr lang="en-US" dirty="0"/>
              <a:t> (Teacher, Administrator)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ExternalStakeholder</a:t>
            </a:r>
            <a:r>
              <a:rPr lang="en-US" dirty="0"/>
              <a:t> (Student)</a:t>
            </a:r>
          </a:p>
          <a:p>
            <a:r>
              <a:rPr lang="en-US" dirty="0"/>
              <a:t>Course</a:t>
            </a:r>
          </a:p>
          <a:p>
            <a:r>
              <a:rPr lang="en-US" dirty="0"/>
              <a:t>Enrollment</a:t>
            </a:r>
          </a:p>
          <a:p>
            <a:r>
              <a:rPr lang="en-US" dirty="0"/>
              <a:t>Material</a:t>
            </a:r>
          </a:p>
          <a:p>
            <a:r>
              <a:rPr lang="en-US" dirty="0" err="1"/>
              <a:t>LearningEvent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924D9F-7B15-5398-5DCA-255B2318F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464" y="1100471"/>
            <a:ext cx="4788861" cy="465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4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420ED-1378-44D8-C8AC-B3E43F4B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Object Properties (Relationships)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1F81-0DA3-AFFE-58FB-5F7345433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r>
              <a:rPr lang="en-US" dirty="0"/>
              <a:t>Teacher </a:t>
            </a:r>
            <a:r>
              <a:rPr lang="en-US" b="1" dirty="0"/>
              <a:t>teaches</a:t>
            </a:r>
            <a:r>
              <a:rPr lang="en-US" dirty="0"/>
              <a:t> Course</a:t>
            </a:r>
          </a:p>
          <a:p>
            <a:r>
              <a:rPr lang="en-US" dirty="0"/>
              <a:t>Course </a:t>
            </a:r>
            <a:r>
              <a:rPr lang="en-US" b="1" dirty="0" err="1"/>
              <a:t>hasMaterial</a:t>
            </a:r>
            <a:r>
              <a:rPr lang="en-US" dirty="0"/>
              <a:t> Material</a:t>
            </a:r>
          </a:p>
          <a:p>
            <a:r>
              <a:rPr lang="en-US" dirty="0"/>
              <a:t>Student </a:t>
            </a:r>
            <a:r>
              <a:rPr lang="en-US" b="1" dirty="0" err="1"/>
              <a:t>hasEnrollment</a:t>
            </a:r>
            <a:r>
              <a:rPr lang="en-US" dirty="0"/>
              <a:t> Enrollment</a:t>
            </a:r>
          </a:p>
          <a:p>
            <a:r>
              <a:rPr lang="en-US" dirty="0"/>
              <a:t>Enrollment </a:t>
            </a:r>
            <a:r>
              <a:rPr lang="en-US" b="1" dirty="0" err="1"/>
              <a:t>hasEnrollmentOf</a:t>
            </a:r>
            <a:r>
              <a:rPr lang="en-US" dirty="0"/>
              <a:t> Course</a:t>
            </a:r>
          </a:p>
          <a:p>
            <a:r>
              <a:rPr lang="en-US" dirty="0" err="1"/>
              <a:t>LearningEvent</a:t>
            </a:r>
            <a:r>
              <a:rPr lang="en-US" dirty="0"/>
              <a:t> </a:t>
            </a:r>
            <a:r>
              <a:rPr lang="en-US" dirty="0" err="1"/>
              <a:t>has</a:t>
            </a:r>
            <a:r>
              <a:rPr lang="en-US" b="1" dirty="0" err="1"/>
              <a:t>LogsWith</a:t>
            </a:r>
            <a:r>
              <a:rPr lang="en-US" dirty="0"/>
              <a:t> Material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85217-6159-65AB-ED81-A38356797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8469" y="1320963"/>
            <a:ext cx="5189014" cy="421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3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ED157-B732-EAE3-B4DA-5AF37908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 Data Properties (Attributes)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28E1-23EF-077E-1729-074AD3F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Student: </a:t>
            </a:r>
            <a:r>
              <a:rPr lang="en-US" dirty="0" err="1"/>
              <a:t>hasStudentID</a:t>
            </a:r>
            <a:r>
              <a:rPr lang="en-US" dirty="0"/>
              <a:t>, </a:t>
            </a:r>
            <a:r>
              <a:rPr lang="en-US" dirty="0" err="1"/>
              <a:t>hasStudentName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Teacher: </a:t>
            </a:r>
            <a:r>
              <a:rPr lang="en-US" dirty="0" err="1"/>
              <a:t>hasEmployeeID</a:t>
            </a:r>
            <a:r>
              <a:rPr lang="en-US" dirty="0"/>
              <a:t>, </a:t>
            </a:r>
            <a:r>
              <a:rPr lang="en-US" dirty="0" err="1"/>
              <a:t>hasEmployeeName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Course: </a:t>
            </a:r>
            <a:r>
              <a:rPr lang="en-US" dirty="0" err="1"/>
              <a:t>hasCourseID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Enrollment: </a:t>
            </a:r>
            <a:r>
              <a:rPr lang="en-US" dirty="0" err="1"/>
              <a:t>hasEnrollmentID</a:t>
            </a:r>
            <a:r>
              <a:rPr lang="en-US" dirty="0"/>
              <a:t>, </a:t>
            </a:r>
            <a:r>
              <a:rPr lang="en-US" dirty="0" err="1"/>
              <a:t>hasEnrollment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Material: </a:t>
            </a:r>
            <a:r>
              <a:rPr lang="en-US" dirty="0" err="1"/>
              <a:t>hasMaterialID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 err="1"/>
              <a:t>LearningEvent</a:t>
            </a:r>
            <a:r>
              <a:rPr lang="en-US" dirty="0"/>
              <a:t>: </a:t>
            </a:r>
            <a:r>
              <a:rPr lang="en-US" dirty="0" err="1"/>
              <a:t>hasEventID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573571-3595-BBB0-BD40-4A79860D5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464" y="1498720"/>
            <a:ext cx="4788861" cy="38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9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EAA6B-ADEC-303F-70D4-5F70C2C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Individuals (Instances)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068C-0BFA-7661-3849-ED1F9AF07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r>
              <a:rPr lang="en-US" dirty="0" err="1"/>
              <a:t>Student_Ibrahim</a:t>
            </a:r>
            <a:r>
              <a:rPr lang="en-US" dirty="0"/>
              <a:t>, </a:t>
            </a:r>
            <a:r>
              <a:rPr lang="en-US" dirty="0" err="1"/>
              <a:t>Student_Diana</a:t>
            </a:r>
            <a:endParaRPr lang="en-US" dirty="0"/>
          </a:p>
          <a:p>
            <a:r>
              <a:rPr lang="en-US" dirty="0" err="1"/>
              <a:t>Teacher_Ali_Adrian</a:t>
            </a:r>
            <a:r>
              <a:rPr lang="en-US" dirty="0"/>
              <a:t>, </a:t>
            </a:r>
            <a:r>
              <a:rPr lang="en-US" dirty="0" err="1"/>
              <a:t>Teacher_Wei_Song</a:t>
            </a:r>
            <a:endParaRPr lang="en-US" dirty="0"/>
          </a:p>
          <a:p>
            <a:r>
              <a:rPr lang="en-US" dirty="0"/>
              <a:t>Course1</a:t>
            </a:r>
          </a:p>
          <a:p>
            <a:r>
              <a:rPr lang="en-US" dirty="0"/>
              <a:t>Enrollment</a:t>
            </a:r>
          </a:p>
          <a:p>
            <a:r>
              <a:rPr lang="en-US" dirty="0"/>
              <a:t>Material1</a:t>
            </a:r>
          </a:p>
          <a:p>
            <a:r>
              <a:rPr lang="en-US" dirty="0" err="1"/>
              <a:t>LearningEvents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E44316-71CD-B41D-08BC-471A406CC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081" y="818802"/>
            <a:ext cx="4711627" cy="5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0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B5AC8-3D65-82F9-132C-ADE04B91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7" y="942857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Reasoner &amp; Logical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AEAB-FFC6-A9E5-3E95-F2C925E19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07" y="2649738"/>
            <a:ext cx="4140096" cy="3513514"/>
          </a:xfrm>
        </p:spPr>
        <p:txBody>
          <a:bodyPr>
            <a:normAutofit/>
          </a:bodyPr>
          <a:lstStyle/>
          <a:p>
            <a:r>
              <a:rPr lang="en-US" dirty="0"/>
              <a:t>Reasoner used to validate ontology</a:t>
            </a:r>
          </a:p>
          <a:p>
            <a:r>
              <a:rPr lang="en-US" dirty="0"/>
              <a:t>Disjoint classes: </a:t>
            </a:r>
            <a:r>
              <a:rPr lang="en-US" dirty="0" err="1"/>
              <a:t>InternalStakeholder</a:t>
            </a:r>
            <a:r>
              <a:rPr lang="en-US" dirty="0"/>
              <a:t> vs </a:t>
            </a:r>
            <a:r>
              <a:rPr lang="en-US" dirty="0" err="1"/>
              <a:t>ExternalStakeholder</a:t>
            </a:r>
            <a:endParaRPr lang="en-US" dirty="0"/>
          </a:p>
          <a:p>
            <a:r>
              <a:rPr lang="en-US" dirty="0"/>
              <a:t>Example inconsistency detected</a:t>
            </a:r>
          </a:p>
          <a:p>
            <a:r>
              <a:rPr lang="en-US" dirty="0"/>
              <a:t>Error resolved by correcting class assignment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student&#10;&#10;AI-generated content may be incorrect.">
            <a:extLst>
              <a:ext uri="{FF2B5EF4-FFF2-40B4-BE49-F238E27FC236}">
                <a16:creationId xmlns:a16="http://schemas.microsoft.com/office/drawing/2014/main" id="{85DE275E-1399-26B6-69A9-82C2F2D4A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737" y="-16049"/>
            <a:ext cx="8109153" cy="697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3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80D1D-E99D-2DC2-717C-B311597B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4CB5FC5-4476-1186-EF1E-B251BE54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BDB8A-16B3-5BE5-65CB-24E1EC80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7" y="942857"/>
            <a:ext cx="4140096" cy="1507375"/>
          </a:xfrm>
        </p:spPr>
        <p:txBody>
          <a:bodyPr>
            <a:normAutofit fontScale="90000"/>
          </a:bodyPr>
          <a:lstStyle/>
          <a:p>
            <a:r>
              <a:rPr lang="en-US" dirty="0"/>
              <a:t>Ontology Graph View (OWL – Protégé)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3068-630F-9745-3A48-4B3BE543F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07" y="2649738"/>
            <a:ext cx="4140096" cy="35135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Visual overview of classes, object properties, and individuals</a:t>
            </a:r>
          </a:p>
          <a:p>
            <a:r>
              <a:rPr lang="en-US" dirty="0"/>
              <a:t>Shows alignment with the ER model</a:t>
            </a:r>
          </a:p>
          <a:p>
            <a:r>
              <a:rPr lang="en-US" dirty="0"/>
              <a:t>Highlights key relationships:</a:t>
            </a:r>
          </a:p>
          <a:p>
            <a:r>
              <a:rPr lang="en-US" dirty="0"/>
              <a:t>Teacher → teaches → Course</a:t>
            </a:r>
          </a:p>
          <a:p>
            <a:r>
              <a:rPr lang="en-US" dirty="0"/>
              <a:t>Course → </a:t>
            </a:r>
            <a:r>
              <a:rPr lang="en-US" dirty="0" err="1"/>
              <a:t>hasMaterial</a:t>
            </a:r>
            <a:r>
              <a:rPr lang="en-US" dirty="0"/>
              <a:t> → Material</a:t>
            </a:r>
          </a:p>
          <a:p>
            <a:r>
              <a:rPr lang="en-US" dirty="0"/>
              <a:t>Student → </a:t>
            </a:r>
            <a:r>
              <a:rPr lang="en-US" dirty="0" err="1"/>
              <a:t>hasEnrollment</a:t>
            </a:r>
            <a:r>
              <a:rPr lang="en-US" dirty="0"/>
              <a:t> → Enrollment → Course</a:t>
            </a:r>
          </a:p>
          <a:p>
            <a:r>
              <a:rPr lang="en-US" dirty="0" err="1"/>
              <a:t>LearningEvent</a:t>
            </a:r>
            <a:r>
              <a:rPr lang="en-US" dirty="0"/>
              <a:t> → </a:t>
            </a:r>
            <a:r>
              <a:rPr lang="en-US" dirty="0" err="1"/>
              <a:t>logsInteractionWith</a:t>
            </a:r>
            <a:r>
              <a:rPr lang="en-US" dirty="0"/>
              <a:t> → Material</a:t>
            </a:r>
          </a:p>
          <a:p>
            <a:r>
              <a:rPr lang="en-US" dirty="0"/>
              <a:t>Used to validate structure and semantics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0CEA46-D999-EDFD-310D-3A44B98B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A835058-8FF3-F131-0294-12ACDF55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98DF7-2A63-2677-F485-BE7238BD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32174" y="-21881"/>
            <a:ext cx="8350449" cy="69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7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BD1-7127-ADDA-DAF8-DDA35202D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5C280-2D90-F693-CF66-769B224A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OWL extends ER with semantic meaning</a:t>
            </a:r>
          </a:p>
          <a:p>
            <a:r>
              <a:rPr lang="en-US" dirty="0"/>
              <a:t>Ontology supports knowledge management</a:t>
            </a:r>
          </a:p>
          <a:p>
            <a:r>
              <a:rPr lang="en-US" dirty="0"/>
              <a:t>Reasoner improves data quality</a:t>
            </a:r>
          </a:p>
        </p:txBody>
      </p:sp>
    </p:spTree>
    <p:extLst>
      <p:ext uri="{BB962C8B-B14F-4D97-AF65-F5344CB8AC3E}">
        <p14:creationId xmlns:p14="http://schemas.microsoft.com/office/powerpoint/2010/main" val="22308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EEDB-2B5B-9848-55A4-3CDCB903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listening!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A8A5-02B1-1A6D-8DAD-F8FB5126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5745719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264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Avenir Next LT Pro Light</vt:lpstr>
      <vt:lpstr>BlocksVTI</vt:lpstr>
      <vt:lpstr>Ontology-Based Enterprise Description of Nordic Learning Solutions</vt:lpstr>
      <vt:lpstr>Purpose of the Ontology</vt:lpstr>
      <vt:lpstr>Class Hierarchy (Classes &amp; Subclasses)</vt:lpstr>
      <vt:lpstr>Object Properties (Relationships)</vt:lpstr>
      <vt:lpstr> Data Properties (Attributes)</vt:lpstr>
      <vt:lpstr>Individuals (Instances)</vt:lpstr>
      <vt:lpstr>Reasoner &amp; Logical Inconsistency</vt:lpstr>
      <vt:lpstr>Ontology Graph View (OWL – Protégé)</vt:lpstr>
      <vt:lpstr>Summary</vt:lpstr>
      <vt:lpstr>Thank you for listening!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Adrian Nasrat (Student)</dc:creator>
  <cp:lastModifiedBy>Adrian Vilches Nasrat (Student)</cp:lastModifiedBy>
  <cp:revision>2</cp:revision>
  <dcterms:created xsi:type="dcterms:W3CDTF">2026-01-09T07:40:47Z</dcterms:created>
  <dcterms:modified xsi:type="dcterms:W3CDTF">2026-06-03T20:12:39Z</dcterms:modified>
</cp:coreProperties>
</file>