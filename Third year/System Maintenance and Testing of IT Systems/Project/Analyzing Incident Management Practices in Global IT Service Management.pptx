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C8F5F-E032-40C9-CA88-78FC53C000AA}" v="209" dt="2025-11-03T00:51:37.020"/>
    <p1510:client id="{22F8E31B-A053-D6CB-D0AA-D12AB1505C14}" v="124" dt="2025-11-03T00:31:55.949"/>
    <p1510:client id="{8FA2AE49-6CCF-D9F4-ACD4-5B895074A43A}" v="345" dt="2025-11-03T00:01:53.582"/>
    <p1510:client id="{93556C33-3154-9846-4A97-AA18A8A2E1EF}" v="2" dt="2025-11-04T08:52:12.325"/>
    <p1510:client id="{D5690342-4570-5609-6BD5-DD67DE1505B9}" v="3" dt="2025-11-04T07:17:38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7"/>
    <p:restoredTop sz="94720"/>
  </p:normalViewPr>
  <p:slideViewPr>
    <p:cSldViewPr snapToGrid="0">
      <p:cViewPr varScale="1">
        <p:scale>
          <a:sx n="208" d="100"/>
          <a:sy n="208" d="100"/>
        </p:scale>
        <p:origin x="1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A02EC-6520-4C1E-98CC-B72D6D709BB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8BFA45-5B9B-45C7-B70F-A8D13BE65BF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b="1" dirty="0">
              <a:ea typeface="+mn-ea"/>
              <a:cs typeface="+mn-cs"/>
            </a:rPr>
            <a:t>The Context:</a:t>
          </a:r>
          <a:r>
            <a:rPr lang="en-US" dirty="0">
              <a:ea typeface="+mn-ea"/>
              <a:cs typeface="+mn-cs"/>
            </a:rPr>
            <a:t> In today's complex global IT environment, effective Incident Management (IM) is crucial for maintaining service continuity and client trust.</a:t>
          </a:r>
        </a:p>
      </dgm:t>
    </dgm:pt>
    <dgm:pt modelId="{AF14D85D-2B3D-41A0-B223-046740B52899}" type="parTrans" cxnId="{9B5AA96E-6B24-4BC1-868A-2A160B4187AF}">
      <dgm:prSet/>
      <dgm:spPr/>
      <dgm:t>
        <a:bodyPr/>
        <a:lstStyle/>
        <a:p>
          <a:endParaRPr lang="en-US"/>
        </a:p>
      </dgm:t>
    </dgm:pt>
    <dgm:pt modelId="{21DA8C21-3AE4-44F5-A241-095F4EB8F5A7}" type="sibTrans" cxnId="{9B5AA96E-6B24-4BC1-868A-2A160B4187AF}">
      <dgm:prSet/>
      <dgm:spPr/>
      <dgm:t>
        <a:bodyPr/>
        <a:lstStyle/>
        <a:p>
          <a:endParaRPr lang="en-US"/>
        </a:p>
      </dgm:t>
    </dgm:pt>
    <dgm:pt modelId="{56206696-BC74-41A5-A833-DE7283DD7002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b="1" dirty="0">
              <a:ea typeface="+mn-ea"/>
              <a:cs typeface="+mn-cs"/>
            </a:rPr>
            <a:t>The Problem:</a:t>
          </a:r>
          <a:r>
            <a:rPr lang="en-US" dirty="0">
              <a:ea typeface="+mn-ea"/>
              <a:cs typeface="+mn-cs"/>
            </a:rPr>
            <a:t> There is often a significant gap between theoretical frameworks (like ITIL) and the real-world execution of IM at a large scale.</a:t>
          </a:r>
        </a:p>
      </dgm:t>
    </dgm:pt>
    <dgm:pt modelId="{6CFD2508-1364-4FC6-A372-1E15E689EF6D}" type="parTrans" cxnId="{B718F041-536D-4386-81D2-F91AFD9D8402}">
      <dgm:prSet/>
      <dgm:spPr/>
      <dgm:t>
        <a:bodyPr/>
        <a:lstStyle/>
        <a:p>
          <a:endParaRPr lang="en-US"/>
        </a:p>
      </dgm:t>
    </dgm:pt>
    <dgm:pt modelId="{7FC2F921-C635-4D8B-B04F-5C112ECF691D}" type="sibTrans" cxnId="{B718F041-536D-4386-81D2-F91AFD9D8402}">
      <dgm:prSet/>
      <dgm:spPr/>
      <dgm:t>
        <a:bodyPr/>
        <a:lstStyle/>
        <a:p>
          <a:endParaRPr lang="en-US"/>
        </a:p>
      </dgm:t>
    </dgm:pt>
    <dgm:pt modelId="{30B74371-A3C5-48CD-9D84-D3244849FF5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b="1" dirty="0">
              <a:ea typeface="+mn-ea"/>
              <a:cs typeface="+mn-cs"/>
            </a:rPr>
            <a:t>Our Aim:</a:t>
          </a:r>
          <a:r>
            <a:rPr lang="en-US" dirty="0">
              <a:ea typeface="+mn-ea"/>
              <a:cs typeface="+mn-cs"/>
            </a:rPr>
            <a:t> To bridge this gap by analyzing the practical application of IM, combining theoretical principles with practical expert knowledge</a:t>
          </a:r>
        </a:p>
      </dgm:t>
    </dgm:pt>
    <dgm:pt modelId="{04136CF9-8F72-41B0-96DB-836E52E7974E}" type="parTrans" cxnId="{796DB649-F019-4070-998E-2A83A90A8F3F}">
      <dgm:prSet/>
      <dgm:spPr/>
      <dgm:t>
        <a:bodyPr/>
        <a:lstStyle/>
        <a:p>
          <a:endParaRPr lang="en-US"/>
        </a:p>
      </dgm:t>
    </dgm:pt>
    <dgm:pt modelId="{B4E1351B-B180-4032-A076-AE96844D0221}" type="sibTrans" cxnId="{796DB649-F019-4070-998E-2A83A90A8F3F}">
      <dgm:prSet/>
      <dgm:spPr/>
      <dgm:t>
        <a:bodyPr/>
        <a:lstStyle/>
        <a:p>
          <a:endParaRPr lang="en-US"/>
        </a:p>
      </dgm:t>
    </dgm:pt>
    <dgm:pt modelId="{2CC6D860-B056-485B-B823-20DDE5C1DDD7}" type="pres">
      <dgm:prSet presAssocID="{633A02EC-6520-4C1E-98CC-B72D6D709B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E814E3-6934-42F6-8951-D597B5FCEB4F}" type="pres">
      <dgm:prSet presAssocID="{0B8BFA45-5B9B-45C7-B70F-A8D13BE65BFF}" presName="hierRoot1" presStyleCnt="0"/>
      <dgm:spPr/>
    </dgm:pt>
    <dgm:pt modelId="{A0A53D31-A2A0-47CA-9AEA-12503F70BF76}" type="pres">
      <dgm:prSet presAssocID="{0B8BFA45-5B9B-45C7-B70F-A8D13BE65BFF}" presName="composite" presStyleCnt="0"/>
      <dgm:spPr/>
    </dgm:pt>
    <dgm:pt modelId="{0416964B-D747-42A2-A536-C8EF32D38353}" type="pres">
      <dgm:prSet presAssocID="{0B8BFA45-5B9B-45C7-B70F-A8D13BE65BFF}" presName="background" presStyleLbl="node0" presStyleIdx="0" presStyleCnt="3"/>
      <dgm:spPr/>
    </dgm:pt>
    <dgm:pt modelId="{4D3962E6-D8B1-4268-8F02-3C763C0A9260}" type="pres">
      <dgm:prSet presAssocID="{0B8BFA45-5B9B-45C7-B70F-A8D13BE65BFF}" presName="text" presStyleLbl="fgAcc0" presStyleIdx="0" presStyleCnt="3">
        <dgm:presLayoutVars>
          <dgm:chPref val="3"/>
        </dgm:presLayoutVars>
      </dgm:prSet>
      <dgm:spPr/>
    </dgm:pt>
    <dgm:pt modelId="{D43395C6-3B9B-43B3-BE2A-3D41C1171F1A}" type="pres">
      <dgm:prSet presAssocID="{0B8BFA45-5B9B-45C7-B70F-A8D13BE65BFF}" presName="hierChild2" presStyleCnt="0"/>
      <dgm:spPr/>
    </dgm:pt>
    <dgm:pt modelId="{B58A0B54-ED33-429D-8746-B13EFE274FE7}" type="pres">
      <dgm:prSet presAssocID="{56206696-BC74-41A5-A833-DE7283DD7002}" presName="hierRoot1" presStyleCnt="0"/>
      <dgm:spPr/>
    </dgm:pt>
    <dgm:pt modelId="{F9B81E90-1A88-442B-8C91-A32BF466AC0D}" type="pres">
      <dgm:prSet presAssocID="{56206696-BC74-41A5-A833-DE7283DD7002}" presName="composite" presStyleCnt="0"/>
      <dgm:spPr/>
    </dgm:pt>
    <dgm:pt modelId="{BFC4AA2F-21FE-4FFE-BA16-F7BD667A880E}" type="pres">
      <dgm:prSet presAssocID="{56206696-BC74-41A5-A833-DE7283DD7002}" presName="background" presStyleLbl="node0" presStyleIdx="1" presStyleCnt="3"/>
      <dgm:spPr/>
    </dgm:pt>
    <dgm:pt modelId="{082E5A93-6665-416C-A566-C19219D631C0}" type="pres">
      <dgm:prSet presAssocID="{56206696-BC74-41A5-A833-DE7283DD7002}" presName="text" presStyleLbl="fgAcc0" presStyleIdx="1" presStyleCnt="3">
        <dgm:presLayoutVars>
          <dgm:chPref val="3"/>
        </dgm:presLayoutVars>
      </dgm:prSet>
      <dgm:spPr/>
    </dgm:pt>
    <dgm:pt modelId="{EC150A36-A4F2-4728-A3EE-C51AE245C49F}" type="pres">
      <dgm:prSet presAssocID="{56206696-BC74-41A5-A833-DE7283DD7002}" presName="hierChild2" presStyleCnt="0"/>
      <dgm:spPr/>
    </dgm:pt>
    <dgm:pt modelId="{3AFB74EA-03E5-42A9-863A-56894C61E13A}" type="pres">
      <dgm:prSet presAssocID="{30B74371-A3C5-48CD-9D84-D3244849FF5B}" presName="hierRoot1" presStyleCnt="0"/>
      <dgm:spPr/>
    </dgm:pt>
    <dgm:pt modelId="{6DF8684B-4C87-4D17-BBB6-D78D96A09117}" type="pres">
      <dgm:prSet presAssocID="{30B74371-A3C5-48CD-9D84-D3244849FF5B}" presName="composite" presStyleCnt="0"/>
      <dgm:spPr/>
    </dgm:pt>
    <dgm:pt modelId="{2300B101-A16B-4321-BA55-4F9764E65840}" type="pres">
      <dgm:prSet presAssocID="{30B74371-A3C5-48CD-9D84-D3244849FF5B}" presName="background" presStyleLbl="node0" presStyleIdx="2" presStyleCnt="3"/>
      <dgm:spPr/>
    </dgm:pt>
    <dgm:pt modelId="{C5BD3FAA-C4DD-474B-B831-66B00841E8FA}" type="pres">
      <dgm:prSet presAssocID="{30B74371-A3C5-48CD-9D84-D3244849FF5B}" presName="text" presStyleLbl="fgAcc0" presStyleIdx="2" presStyleCnt="3">
        <dgm:presLayoutVars>
          <dgm:chPref val="3"/>
        </dgm:presLayoutVars>
      </dgm:prSet>
      <dgm:spPr/>
    </dgm:pt>
    <dgm:pt modelId="{A681BC68-A3F4-4123-BC17-44A6367C734B}" type="pres">
      <dgm:prSet presAssocID="{30B74371-A3C5-48CD-9D84-D3244849FF5B}" presName="hierChild2" presStyleCnt="0"/>
      <dgm:spPr/>
    </dgm:pt>
  </dgm:ptLst>
  <dgm:cxnLst>
    <dgm:cxn modelId="{35B56A3D-F361-42A2-A125-0BC8FD2EC04F}" type="presOf" srcId="{30B74371-A3C5-48CD-9D84-D3244849FF5B}" destId="{C5BD3FAA-C4DD-474B-B831-66B00841E8FA}" srcOrd="0" destOrd="0" presId="urn:microsoft.com/office/officeart/2005/8/layout/hierarchy1"/>
    <dgm:cxn modelId="{B718F041-536D-4386-81D2-F91AFD9D8402}" srcId="{633A02EC-6520-4C1E-98CC-B72D6D709BBD}" destId="{56206696-BC74-41A5-A833-DE7283DD7002}" srcOrd="1" destOrd="0" parTransId="{6CFD2508-1364-4FC6-A372-1E15E689EF6D}" sibTransId="{7FC2F921-C635-4D8B-B04F-5C112ECF691D}"/>
    <dgm:cxn modelId="{796DB649-F019-4070-998E-2A83A90A8F3F}" srcId="{633A02EC-6520-4C1E-98CC-B72D6D709BBD}" destId="{30B74371-A3C5-48CD-9D84-D3244849FF5B}" srcOrd="2" destOrd="0" parTransId="{04136CF9-8F72-41B0-96DB-836E52E7974E}" sibTransId="{B4E1351B-B180-4032-A076-AE96844D0221}"/>
    <dgm:cxn modelId="{9B5AA96E-6B24-4BC1-868A-2A160B4187AF}" srcId="{633A02EC-6520-4C1E-98CC-B72D6D709BBD}" destId="{0B8BFA45-5B9B-45C7-B70F-A8D13BE65BFF}" srcOrd="0" destOrd="0" parTransId="{AF14D85D-2B3D-41A0-B223-046740B52899}" sibTransId="{21DA8C21-3AE4-44F5-A241-095F4EB8F5A7}"/>
    <dgm:cxn modelId="{FE97E974-981D-475B-BA5D-B373ECDCCF49}" type="presOf" srcId="{0B8BFA45-5B9B-45C7-B70F-A8D13BE65BFF}" destId="{4D3962E6-D8B1-4268-8F02-3C763C0A9260}" srcOrd="0" destOrd="0" presId="urn:microsoft.com/office/officeart/2005/8/layout/hierarchy1"/>
    <dgm:cxn modelId="{BB7F7CA6-D724-4A2F-94AB-D39223BCF6F7}" type="presOf" srcId="{633A02EC-6520-4C1E-98CC-B72D6D709BBD}" destId="{2CC6D860-B056-485B-B823-20DDE5C1DDD7}" srcOrd="0" destOrd="0" presId="urn:microsoft.com/office/officeart/2005/8/layout/hierarchy1"/>
    <dgm:cxn modelId="{7C925BFC-9B59-42EF-B436-0AA51865D7C9}" type="presOf" srcId="{56206696-BC74-41A5-A833-DE7283DD7002}" destId="{082E5A93-6665-416C-A566-C19219D631C0}" srcOrd="0" destOrd="0" presId="urn:microsoft.com/office/officeart/2005/8/layout/hierarchy1"/>
    <dgm:cxn modelId="{835EEBCA-1E1F-4275-A151-48748817E86D}" type="presParOf" srcId="{2CC6D860-B056-485B-B823-20DDE5C1DDD7}" destId="{9AE814E3-6934-42F6-8951-D597B5FCEB4F}" srcOrd="0" destOrd="0" presId="urn:microsoft.com/office/officeart/2005/8/layout/hierarchy1"/>
    <dgm:cxn modelId="{E5FF0D6C-F0D4-444C-B581-D5F4725046D6}" type="presParOf" srcId="{9AE814E3-6934-42F6-8951-D597B5FCEB4F}" destId="{A0A53D31-A2A0-47CA-9AEA-12503F70BF76}" srcOrd="0" destOrd="0" presId="urn:microsoft.com/office/officeart/2005/8/layout/hierarchy1"/>
    <dgm:cxn modelId="{48FB81EC-6B4B-490B-ADD8-48018F8E1674}" type="presParOf" srcId="{A0A53D31-A2A0-47CA-9AEA-12503F70BF76}" destId="{0416964B-D747-42A2-A536-C8EF32D38353}" srcOrd="0" destOrd="0" presId="urn:microsoft.com/office/officeart/2005/8/layout/hierarchy1"/>
    <dgm:cxn modelId="{D6ACF88A-4EBD-45F1-826D-C32B6D99C6A6}" type="presParOf" srcId="{A0A53D31-A2A0-47CA-9AEA-12503F70BF76}" destId="{4D3962E6-D8B1-4268-8F02-3C763C0A9260}" srcOrd="1" destOrd="0" presId="urn:microsoft.com/office/officeart/2005/8/layout/hierarchy1"/>
    <dgm:cxn modelId="{96731CCD-D148-49A2-8EA9-E802077FCA7D}" type="presParOf" srcId="{9AE814E3-6934-42F6-8951-D597B5FCEB4F}" destId="{D43395C6-3B9B-43B3-BE2A-3D41C1171F1A}" srcOrd="1" destOrd="0" presId="urn:microsoft.com/office/officeart/2005/8/layout/hierarchy1"/>
    <dgm:cxn modelId="{22512CFD-24FF-4A8D-AA99-A60F1962A8C1}" type="presParOf" srcId="{2CC6D860-B056-485B-B823-20DDE5C1DDD7}" destId="{B58A0B54-ED33-429D-8746-B13EFE274FE7}" srcOrd="1" destOrd="0" presId="urn:microsoft.com/office/officeart/2005/8/layout/hierarchy1"/>
    <dgm:cxn modelId="{BD924EA4-27D5-4D07-9E58-B5D2D9DB135F}" type="presParOf" srcId="{B58A0B54-ED33-429D-8746-B13EFE274FE7}" destId="{F9B81E90-1A88-442B-8C91-A32BF466AC0D}" srcOrd="0" destOrd="0" presId="urn:microsoft.com/office/officeart/2005/8/layout/hierarchy1"/>
    <dgm:cxn modelId="{C7218DC2-1995-47CA-9DC4-C35DFF10AE14}" type="presParOf" srcId="{F9B81E90-1A88-442B-8C91-A32BF466AC0D}" destId="{BFC4AA2F-21FE-4FFE-BA16-F7BD667A880E}" srcOrd="0" destOrd="0" presId="urn:microsoft.com/office/officeart/2005/8/layout/hierarchy1"/>
    <dgm:cxn modelId="{97BA8157-7FD8-4E94-8FD8-934E5DB054AA}" type="presParOf" srcId="{F9B81E90-1A88-442B-8C91-A32BF466AC0D}" destId="{082E5A93-6665-416C-A566-C19219D631C0}" srcOrd="1" destOrd="0" presId="urn:microsoft.com/office/officeart/2005/8/layout/hierarchy1"/>
    <dgm:cxn modelId="{5D386205-A4EF-4441-BE9C-40131D19011C}" type="presParOf" srcId="{B58A0B54-ED33-429D-8746-B13EFE274FE7}" destId="{EC150A36-A4F2-4728-A3EE-C51AE245C49F}" srcOrd="1" destOrd="0" presId="urn:microsoft.com/office/officeart/2005/8/layout/hierarchy1"/>
    <dgm:cxn modelId="{448E4E25-96EF-488A-93D5-7D562F41D428}" type="presParOf" srcId="{2CC6D860-B056-485B-B823-20DDE5C1DDD7}" destId="{3AFB74EA-03E5-42A9-863A-56894C61E13A}" srcOrd="2" destOrd="0" presId="urn:microsoft.com/office/officeart/2005/8/layout/hierarchy1"/>
    <dgm:cxn modelId="{0F7BD6F1-15BA-4316-A8B0-1D8506CD06DB}" type="presParOf" srcId="{3AFB74EA-03E5-42A9-863A-56894C61E13A}" destId="{6DF8684B-4C87-4D17-BBB6-D78D96A09117}" srcOrd="0" destOrd="0" presId="urn:microsoft.com/office/officeart/2005/8/layout/hierarchy1"/>
    <dgm:cxn modelId="{97AF941D-C21A-47FC-9344-AAB01CD8744B}" type="presParOf" srcId="{6DF8684B-4C87-4D17-BBB6-D78D96A09117}" destId="{2300B101-A16B-4321-BA55-4F9764E65840}" srcOrd="0" destOrd="0" presId="urn:microsoft.com/office/officeart/2005/8/layout/hierarchy1"/>
    <dgm:cxn modelId="{B51447E9-4BED-4B9A-BDED-DA2D8F746027}" type="presParOf" srcId="{6DF8684B-4C87-4D17-BBB6-D78D96A09117}" destId="{C5BD3FAA-C4DD-474B-B831-66B00841E8FA}" srcOrd="1" destOrd="0" presId="urn:microsoft.com/office/officeart/2005/8/layout/hierarchy1"/>
    <dgm:cxn modelId="{312FAFEA-073F-4D51-A8A9-68AC15CE385E}" type="presParOf" srcId="{3AFB74EA-03E5-42A9-863A-56894C61E13A}" destId="{A681BC68-A3F4-4123-BC17-44A6367C73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A2E19A-CDA9-4C6F-BF41-886D407718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96412E-E7A7-428B-9371-10CD93C3B10E}">
      <dgm:prSet/>
      <dgm:spPr/>
      <dgm:t>
        <a:bodyPr/>
        <a:lstStyle/>
        <a:p>
          <a:r>
            <a:rPr lang="en-US" dirty="0"/>
            <a:t>What are the key internal and external factors (Strengths, Weaknesses, Opportunities, and Threats) that govern effective IM in large organizations? </a:t>
          </a:r>
        </a:p>
      </dgm:t>
    </dgm:pt>
    <dgm:pt modelId="{C42081F2-C8C4-44B2-A774-7835BADCBFCA}" type="parTrans" cxnId="{CA60D51D-6BDF-4998-8A69-1D4FBD36BB86}">
      <dgm:prSet/>
      <dgm:spPr/>
      <dgm:t>
        <a:bodyPr/>
        <a:lstStyle/>
        <a:p>
          <a:endParaRPr lang="en-US"/>
        </a:p>
      </dgm:t>
    </dgm:pt>
    <dgm:pt modelId="{A6038D32-431C-42DB-8C0F-8BA906D073FB}" type="sibTrans" cxnId="{CA60D51D-6BDF-4998-8A69-1D4FBD36BB86}">
      <dgm:prSet/>
      <dgm:spPr/>
      <dgm:t>
        <a:bodyPr/>
        <a:lstStyle/>
        <a:p>
          <a:endParaRPr lang="en-US"/>
        </a:p>
      </dgm:t>
    </dgm:pt>
    <dgm:pt modelId="{80BF88E4-3C7A-423E-93DD-F57923A2FBE2}">
      <dgm:prSet/>
      <dgm:spPr/>
      <dgm:t>
        <a:bodyPr/>
        <a:lstStyle/>
        <a:p>
          <a:r>
            <a:rPr lang="en-US" dirty="0"/>
            <a:t>How well do ITIL 4's principles translate to real-world practices, and what are the most common challenges faced in complex, global environments? </a:t>
          </a:r>
        </a:p>
      </dgm:t>
    </dgm:pt>
    <dgm:pt modelId="{F1BEF4D9-014E-4225-A262-EE5B184537FC}" type="parTrans" cxnId="{D67F6AA0-A6F0-4A0E-A3FC-6A923084F52B}">
      <dgm:prSet/>
      <dgm:spPr/>
      <dgm:t>
        <a:bodyPr/>
        <a:lstStyle/>
        <a:p>
          <a:endParaRPr lang="en-US"/>
        </a:p>
      </dgm:t>
    </dgm:pt>
    <dgm:pt modelId="{C443EEBC-64E3-40FD-AA60-221E72431F09}" type="sibTrans" cxnId="{D67F6AA0-A6F0-4A0E-A3FC-6A923084F52B}">
      <dgm:prSet/>
      <dgm:spPr/>
      <dgm:t>
        <a:bodyPr/>
        <a:lstStyle/>
        <a:p>
          <a:endParaRPr lang="en-US"/>
        </a:p>
      </dgm:t>
    </dgm:pt>
    <dgm:pt modelId="{EB096A15-23CB-4346-B932-494B97779FD4}">
      <dgm:prSet/>
      <dgm:spPr/>
      <dgm:t>
        <a:bodyPr/>
        <a:lstStyle/>
        <a:p>
          <a:r>
            <a:rPr lang="en-US" dirty="0"/>
            <a:t>What strategies prove effective for balancing technical resolution with transparent communication to stakeholders under time pressure? </a:t>
          </a:r>
        </a:p>
      </dgm:t>
    </dgm:pt>
    <dgm:pt modelId="{3136C3D6-898F-4ED1-87B9-A708D411AAF0}" type="parTrans" cxnId="{966A0DEF-E000-4AC2-A72C-857ACB5F3F62}">
      <dgm:prSet/>
      <dgm:spPr/>
      <dgm:t>
        <a:bodyPr/>
        <a:lstStyle/>
        <a:p>
          <a:endParaRPr lang="en-US"/>
        </a:p>
      </dgm:t>
    </dgm:pt>
    <dgm:pt modelId="{B49D8F2D-7989-45CE-85E7-5DA153BFD92C}" type="sibTrans" cxnId="{966A0DEF-E000-4AC2-A72C-857ACB5F3F62}">
      <dgm:prSet/>
      <dgm:spPr/>
      <dgm:t>
        <a:bodyPr/>
        <a:lstStyle/>
        <a:p>
          <a:endParaRPr lang="en-US"/>
        </a:p>
      </dgm:t>
    </dgm:pt>
    <dgm:pt modelId="{1A8AEC6D-7960-469A-A4DD-73F7AA287E05}" type="pres">
      <dgm:prSet presAssocID="{80A2E19A-CDA9-4C6F-BF41-886D4077183C}" presName="root" presStyleCnt="0">
        <dgm:presLayoutVars>
          <dgm:dir/>
          <dgm:resizeHandles val="exact"/>
        </dgm:presLayoutVars>
      </dgm:prSet>
      <dgm:spPr/>
    </dgm:pt>
    <dgm:pt modelId="{C45ED7DC-4527-4BE9-B900-6E19B4520682}" type="pres">
      <dgm:prSet presAssocID="{0A96412E-E7A7-428B-9371-10CD93C3B10E}" presName="compNode" presStyleCnt="0"/>
      <dgm:spPr/>
    </dgm:pt>
    <dgm:pt modelId="{94F0B81E-AD90-403A-A2D2-BF89D93E264C}" type="pres">
      <dgm:prSet presAssocID="{0A96412E-E7A7-428B-9371-10CD93C3B10E}" presName="bgRect" presStyleLbl="bgShp" presStyleIdx="0" presStyleCnt="3"/>
      <dgm:spPr/>
    </dgm:pt>
    <dgm:pt modelId="{A9D20BAE-9105-4C08-AD3D-EAAEB38A0B47}" type="pres">
      <dgm:prSet presAssocID="{0A96412E-E7A7-428B-9371-10CD93C3B10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yckel"/>
        </a:ext>
      </dgm:extLst>
    </dgm:pt>
    <dgm:pt modelId="{7CA1F18A-2717-4687-8E80-90859CD1A18F}" type="pres">
      <dgm:prSet presAssocID="{0A96412E-E7A7-428B-9371-10CD93C3B10E}" presName="spaceRect" presStyleCnt="0"/>
      <dgm:spPr/>
    </dgm:pt>
    <dgm:pt modelId="{717DCCAF-11F8-4357-9FB3-D0CFFAAF0278}" type="pres">
      <dgm:prSet presAssocID="{0A96412E-E7A7-428B-9371-10CD93C3B10E}" presName="parTx" presStyleLbl="revTx" presStyleIdx="0" presStyleCnt="3">
        <dgm:presLayoutVars>
          <dgm:chMax val="0"/>
          <dgm:chPref val="0"/>
        </dgm:presLayoutVars>
      </dgm:prSet>
      <dgm:spPr/>
    </dgm:pt>
    <dgm:pt modelId="{223FCAD7-6FD7-4087-B873-D9D599A1266B}" type="pres">
      <dgm:prSet presAssocID="{A6038D32-431C-42DB-8C0F-8BA906D073FB}" presName="sibTrans" presStyleCnt="0"/>
      <dgm:spPr/>
    </dgm:pt>
    <dgm:pt modelId="{A7F1E8C5-503B-45CC-91DC-878F91FA2D90}" type="pres">
      <dgm:prSet presAssocID="{80BF88E4-3C7A-423E-93DD-F57923A2FBE2}" presName="compNode" presStyleCnt="0"/>
      <dgm:spPr/>
    </dgm:pt>
    <dgm:pt modelId="{58B807B4-3DD0-4A1F-BDE5-06EED8236D75}" type="pres">
      <dgm:prSet presAssocID="{80BF88E4-3C7A-423E-93DD-F57923A2FBE2}" presName="bgRect" presStyleLbl="bgShp" presStyleIdx="1" presStyleCnt="3"/>
      <dgm:spPr/>
    </dgm:pt>
    <dgm:pt modelId="{90F1E1B1-1A5E-400B-B5AB-9783D0C644C5}" type="pres">
      <dgm:prSet presAssocID="{80BF88E4-3C7A-423E-93DD-F57923A2FB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3249DEA9-0360-442F-83D6-CB77AF51B244}" type="pres">
      <dgm:prSet presAssocID="{80BF88E4-3C7A-423E-93DD-F57923A2FBE2}" presName="spaceRect" presStyleCnt="0"/>
      <dgm:spPr/>
    </dgm:pt>
    <dgm:pt modelId="{712C2F57-E33F-44D2-904D-DE67E37A58FC}" type="pres">
      <dgm:prSet presAssocID="{80BF88E4-3C7A-423E-93DD-F57923A2FBE2}" presName="parTx" presStyleLbl="revTx" presStyleIdx="1" presStyleCnt="3">
        <dgm:presLayoutVars>
          <dgm:chMax val="0"/>
          <dgm:chPref val="0"/>
        </dgm:presLayoutVars>
      </dgm:prSet>
      <dgm:spPr/>
    </dgm:pt>
    <dgm:pt modelId="{700C3F68-E3B4-49E2-A9B7-5DFD7079FCD7}" type="pres">
      <dgm:prSet presAssocID="{C443EEBC-64E3-40FD-AA60-221E72431F09}" presName="sibTrans" presStyleCnt="0"/>
      <dgm:spPr/>
    </dgm:pt>
    <dgm:pt modelId="{3103F48F-6394-4132-B40A-1D50C0F4EC33}" type="pres">
      <dgm:prSet presAssocID="{EB096A15-23CB-4346-B932-494B97779FD4}" presName="compNode" presStyleCnt="0"/>
      <dgm:spPr/>
    </dgm:pt>
    <dgm:pt modelId="{97C52193-CD52-4FDA-8801-8338D9BD9680}" type="pres">
      <dgm:prSet presAssocID="{EB096A15-23CB-4346-B932-494B97779FD4}" presName="bgRect" presStyleLbl="bgShp" presStyleIdx="2" presStyleCnt="3"/>
      <dgm:spPr/>
    </dgm:pt>
    <dgm:pt modelId="{2D915136-443E-4BCF-A805-D74D8974BB5B}" type="pres">
      <dgm:prSet presAssocID="{EB096A15-23CB-4346-B932-494B97779F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10C15AD-6C8E-4129-9285-B2842E0AFFA7}" type="pres">
      <dgm:prSet presAssocID="{EB096A15-23CB-4346-B932-494B97779FD4}" presName="spaceRect" presStyleCnt="0"/>
      <dgm:spPr/>
    </dgm:pt>
    <dgm:pt modelId="{55D95346-2711-48B9-89DF-A42220AE71BA}" type="pres">
      <dgm:prSet presAssocID="{EB096A15-23CB-4346-B932-494B97779F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A60D51D-6BDF-4998-8A69-1D4FBD36BB86}" srcId="{80A2E19A-CDA9-4C6F-BF41-886D4077183C}" destId="{0A96412E-E7A7-428B-9371-10CD93C3B10E}" srcOrd="0" destOrd="0" parTransId="{C42081F2-C8C4-44B2-A774-7835BADCBFCA}" sibTransId="{A6038D32-431C-42DB-8C0F-8BA906D073FB}"/>
    <dgm:cxn modelId="{41942E1F-81AD-4B19-A128-E62286170C66}" type="presOf" srcId="{80BF88E4-3C7A-423E-93DD-F57923A2FBE2}" destId="{712C2F57-E33F-44D2-904D-DE67E37A58FC}" srcOrd="0" destOrd="0" presId="urn:microsoft.com/office/officeart/2018/2/layout/IconVerticalSolidList"/>
    <dgm:cxn modelId="{D67F6AA0-A6F0-4A0E-A3FC-6A923084F52B}" srcId="{80A2E19A-CDA9-4C6F-BF41-886D4077183C}" destId="{80BF88E4-3C7A-423E-93DD-F57923A2FBE2}" srcOrd="1" destOrd="0" parTransId="{F1BEF4D9-014E-4225-A262-EE5B184537FC}" sibTransId="{C443EEBC-64E3-40FD-AA60-221E72431F09}"/>
    <dgm:cxn modelId="{83C60CAC-582E-4627-9E5A-5DF4CE3EDCE6}" type="presOf" srcId="{EB096A15-23CB-4346-B932-494B97779FD4}" destId="{55D95346-2711-48B9-89DF-A42220AE71BA}" srcOrd="0" destOrd="0" presId="urn:microsoft.com/office/officeart/2018/2/layout/IconVerticalSolidList"/>
    <dgm:cxn modelId="{A76E88B1-DDC0-4F87-A26A-E6EC2C0B0D77}" type="presOf" srcId="{80A2E19A-CDA9-4C6F-BF41-886D4077183C}" destId="{1A8AEC6D-7960-469A-A4DD-73F7AA287E05}" srcOrd="0" destOrd="0" presId="urn:microsoft.com/office/officeart/2018/2/layout/IconVerticalSolidList"/>
    <dgm:cxn modelId="{EBB152C1-4385-41E5-831E-5715D1854948}" type="presOf" srcId="{0A96412E-E7A7-428B-9371-10CD93C3B10E}" destId="{717DCCAF-11F8-4357-9FB3-D0CFFAAF0278}" srcOrd="0" destOrd="0" presId="urn:microsoft.com/office/officeart/2018/2/layout/IconVerticalSolidList"/>
    <dgm:cxn modelId="{966A0DEF-E000-4AC2-A72C-857ACB5F3F62}" srcId="{80A2E19A-CDA9-4C6F-BF41-886D4077183C}" destId="{EB096A15-23CB-4346-B932-494B97779FD4}" srcOrd="2" destOrd="0" parTransId="{3136C3D6-898F-4ED1-87B9-A708D411AAF0}" sibTransId="{B49D8F2D-7989-45CE-85E7-5DA153BFD92C}"/>
    <dgm:cxn modelId="{AFACC26E-392D-4B13-9593-2A7B6E1E9DDA}" type="presParOf" srcId="{1A8AEC6D-7960-469A-A4DD-73F7AA287E05}" destId="{C45ED7DC-4527-4BE9-B900-6E19B4520682}" srcOrd="0" destOrd="0" presId="urn:microsoft.com/office/officeart/2018/2/layout/IconVerticalSolidList"/>
    <dgm:cxn modelId="{5A479A2C-6F2E-4428-B878-E0C26F78235D}" type="presParOf" srcId="{C45ED7DC-4527-4BE9-B900-6E19B4520682}" destId="{94F0B81E-AD90-403A-A2D2-BF89D93E264C}" srcOrd="0" destOrd="0" presId="urn:microsoft.com/office/officeart/2018/2/layout/IconVerticalSolidList"/>
    <dgm:cxn modelId="{C53C5CE4-634A-4EC5-ACFD-AEC1235FEEAB}" type="presParOf" srcId="{C45ED7DC-4527-4BE9-B900-6E19B4520682}" destId="{A9D20BAE-9105-4C08-AD3D-EAAEB38A0B47}" srcOrd="1" destOrd="0" presId="urn:microsoft.com/office/officeart/2018/2/layout/IconVerticalSolidList"/>
    <dgm:cxn modelId="{EB67BC0A-B0EE-4779-B161-6BDA06EE509D}" type="presParOf" srcId="{C45ED7DC-4527-4BE9-B900-6E19B4520682}" destId="{7CA1F18A-2717-4687-8E80-90859CD1A18F}" srcOrd="2" destOrd="0" presId="urn:microsoft.com/office/officeart/2018/2/layout/IconVerticalSolidList"/>
    <dgm:cxn modelId="{D1F4A5E4-4867-4475-8DC8-6AEC017CE762}" type="presParOf" srcId="{C45ED7DC-4527-4BE9-B900-6E19B4520682}" destId="{717DCCAF-11F8-4357-9FB3-D0CFFAAF0278}" srcOrd="3" destOrd="0" presId="urn:microsoft.com/office/officeart/2018/2/layout/IconVerticalSolidList"/>
    <dgm:cxn modelId="{384EEAFE-A1E5-4F18-9CE7-57FA43061E8B}" type="presParOf" srcId="{1A8AEC6D-7960-469A-A4DD-73F7AA287E05}" destId="{223FCAD7-6FD7-4087-B873-D9D599A1266B}" srcOrd="1" destOrd="0" presId="urn:microsoft.com/office/officeart/2018/2/layout/IconVerticalSolidList"/>
    <dgm:cxn modelId="{355134C7-65F4-4277-A2E0-6058F3B51E29}" type="presParOf" srcId="{1A8AEC6D-7960-469A-A4DD-73F7AA287E05}" destId="{A7F1E8C5-503B-45CC-91DC-878F91FA2D90}" srcOrd="2" destOrd="0" presId="urn:microsoft.com/office/officeart/2018/2/layout/IconVerticalSolidList"/>
    <dgm:cxn modelId="{EF93B1BB-098B-4258-A045-86C7A6FBD35C}" type="presParOf" srcId="{A7F1E8C5-503B-45CC-91DC-878F91FA2D90}" destId="{58B807B4-3DD0-4A1F-BDE5-06EED8236D75}" srcOrd="0" destOrd="0" presId="urn:microsoft.com/office/officeart/2018/2/layout/IconVerticalSolidList"/>
    <dgm:cxn modelId="{A3AE946E-1E10-45DE-B726-59AAB21A0678}" type="presParOf" srcId="{A7F1E8C5-503B-45CC-91DC-878F91FA2D90}" destId="{90F1E1B1-1A5E-400B-B5AB-9783D0C644C5}" srcOrd="1" destOrd="0" presId="urn:microsoft.com/office/officeart/2018/2/layout/IconVerticalSolidList"/>
    <dgm:cxn modelId="{8804700A-A733-494E-84A5-661BAAC5112D}" type="presParOf" srcId="{A7F1E8C5-503B-45CC-91DC-878F91FA2D90}" destId="{3249DEA9-0360-442F-83D6-CB77AF51B244}" srcOrd="2" destOrd="0" presId="urn:microsoft.com/office/officeart/2018/2/layout/IconVerticalSolidList"/>
    <dgm:cxn modelId="{4F8CFE8B-FF1C-452B-BC1B-9B12DE5016C8}" type="presParOf" srcId="{A7F1E8C5-503B-45CC-91DC-878F91FA2D90}" destId="{712C2F57-E33F-44D2-904D-DE67E37A58FC}" srcOrd="3" destOrd="0" presId="urn:microsoft.com/office/officeart/2018/2/layout/IconVerticalSolidList"/>
    <dgm:cxn modelId="{45D21957-4EEF-4AC6-B698-206C9CBA4DE1}" type="presParOf" srcId="{1A8AEC6D-7960-469A-A4DD-73F7AA287E05}" destId="{700C3F68-E3B4-49E2-A9B7-5DFD7079FCD7}" srcOrd="3" destOrd="0" presId="urn:microsoft.com/office/officeart/2018/2/layout/IconVerticalSolidList"/>
    <dgm:cxn modelId="{520FAB31-5216-4EEB-AEB5-BBD2A0168128}" type="presParOf" srcId="{1A8AEC6D-7960-469A-A4DD-73F7AA287E05}" destId="{3103F48F-6394-4132-B40A-1D50C0F4EC33}" srcOrd="4" destOrd="0" presId="urn:microsoft.com/office/officeart/2018/2/layout/IconVerticalSolidList"/>
    <dgm:cxn modelId="{F21A7A9B-0D2F-4D82-B1A2-379D70102154}" type="presParOf" srcId="{3103F48F-6394-4132-B40A-1D50C0F4EC33}" destId="{97C52193-CD52-4FDA-8801-8338D9BD9680}" srcOrd="0" destOrd="0" presId="urn:microsoft.com/office/officeart/2018/2/layout/IconVerticalSolidList"/>
    <dgm:cxn modelId="{AF9502D5-42A3-4C75-AEC4-B2F3C89A01D0}" type="presParOf" srcId="{3103F48F-6394-4132-B40A-1D50C0F4EC33}" destId="{2D915136-443E-4BCF-A805-D74D8974BB5B}" srcOrd="1" destOrd="0" presId="urn:microsoft.com/office/officeart/2018/2/layout/IconVerticalSolidList"/>
    <dgm:cxn modelId="{BA0FA63A-7CC9-4C57-83AD-4E2E61703DAD}" type="presParOf" srcId="{3103F48F-6394-4132-B40A-1D50C0F4EC33}" destId="{F10C15AD-6C8E-4129-9285-B2842E0AFFA7}" srcOrd="2" destOrd="0" presId="urn:microsoft.com/office/officeart/2018/2/layout/IconVerticalSolidList"/>
    <dgm:cxn modelId="{17E52618-16D9-4806-A16E-D10A734AEB29}" type="presParOf" srcId="{3103F48F-6394-4132-B40A-1D50C0F4EC33}" destId="{55D95346-2711-48B9-89DF-A42220AE71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C6DF7E-8DB9-425E-A0B7-A154BA3A54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6D1253D-88A9-4468-BD92-472E17A602D7}">
      <dgm:prSet/>
      <dgm:spPr/>
      <dgm:t>
        <a:bodyPr/>
        <a:lstStyle/>
        <a:p>
          <a:r>
            <a:rPr lang="en-US" b="1" dirty="0"/>
            <a:t>Incident Management (IM):</a:t>
          </a:r>
          <a:endParaRPr lang="en-US" dirty="0"/>
        </a:p>
      </dgm:t>
    </dgm:pt>
    <dgm:pt modelId="{416FB52E-41FD-4A09-90C5-337782E172EB}" type="parTrans" cxnId="{F02BF968-9989-43C1-A606-3306BFA51ACB}">
      <dgm:prSet/>
      <dgm:spPr/>
      <dgm:t>
        <a:bodyPr/>
        <a:lstStyle/>
        <a:p>
          <a:endParaRPr lang="en-US"/>
        </a:p>
      </dgm:t>
    </dgm:pt>
    <dgm:pt modelId="{6578BE2E-9BCB-4682-BA1A-A9E374F6EC88}" type="sibTrans" cxnId="{F02BF968-9989-43C1-A606-3306BFA51ACB}">
      <dgm:prSet/>
      <dgm:spPr/>
      <dgm:t>
        <a:bodyPr/>
        <a:lstStyle/>
        <a:p>
          <a:endParaRPr lang="en-US"/>
        </a:p>
      </dgm:t>
    </dgm:pt>
    <dgm:pt modelId="{406FC9A0-51B8-4287-845D-0E75B0CFCDF4}">
      <dgm:prSet/>
      <dgm:spPr/>
      <dgm:t>
        <a:bodyPr/>
        <a:lstStyle/>
        <a:p>
          <a:r>
            <a:rPr lang="en-US" dirty="0"/>
            <a:t>The practice of minimizing the negative impact of an incident and restoring normal service operation as quickly as possible.</a:t>
          </a:r>
        </a:p>
      </dgm:t>
    </dgm:pt>
    <dgm:pt modelId="{4825D4D4-4D14-40FF-9949-B0B6BB7F2BB3}" type="parTrans" cxnId="{140DF2BB-6C0B-4826-BB20-58BC632E1CCB}">
      <dgm:prSet/>
      <dgm:spPr/>
      <dgm:t>
        <a:bodyPr/>
        <a:lstStyle/>
        <a:p>
          <a:endParaRPr lang="en-US"/>
        </a:p>
      </dgm:t>
    </dgm:pt>
    <dgm:pt modelId="{8400E18F-0697-4752-87C9-CD21DF9B2DAE}" type="sibTrans" cxnId="{140DF2BB-6C0B-4826-BB20-58BC632E1CCB}">
      <dgm:prSet/>
      <dgm:spPr/>
      <dgm:t>
        <a:bodyPr/>
        <a:lstStyle/>
        <a:p>
          <a:endParaRPr lang="en-US"/>
        </a:p>
      </dgm:t>
    </dgm:pt>
    <dgm:pt modelId="{04013EEE-DBBF-4700-BB74-B4FB11124EC3}">
      <dgm:prSet/>
      <dgm:spPr/>
      <dgm:t>
        <a:bodyPr/>
        <a:lstStyle/>
        <a:p>
          <a:r>
            <a:rPr lang="en-US" b="1" dirty="0"/>
            <a:t>Support Hierarchy:</a:t>
          </a:r>
          <a:endParaRPr lang="en-US" dirty="0"/>
        </a:p>
      </dgm:t>
    </dgm:pt>
    <dgm:pt modelId="{B59DBD7E-5844-4245-898C-82E25914D80B}" type="parTrans" cxnId="{9C92EDBF-7544-4311-A223-230D8BE763B2}">
      <dgm:prSet/>
      <dgm:spPr/>
      <dgm:t>
        <a:bodyPr/>
        <a:lstStyle/>
        <a:p>
          <a:endParaRPr lang="en-US"/>
        </a:p>
      </dgm:t>
    </dgm:pt>
    <dgm:pt modelId="{992B6AFB-713B-41EE-86D5-50EBB917DCA1}" type="sibTrans" cxnId="{9C92EDBF-7544-4311-A223-230D8BE763B2}">
      <dgm:prSet/>
      <dgm:spPr/>
      <dgm:t>
        <a:bodyPr/>
        <a:lstStyle/>
        <a:p>
          <a:endParaRPr lang="en-US"/>
        </a:p>
      </dgm:t>
    </dgm:pt>
    <dgm:pt modelId="{2BEEF8CB-5C55-44E2-B04A-99F934C75E10}">
      <dgm:prSet/>
      <dgm:spPr/>
      <dgm:t>
        <a:bodyPr/>
        <a:lstStyle/>
        <a:p>
          <a:r>
            <a:rPr lang="en-US" b="1" dirty="0"/>
            <a:t>L1 (First Contact):</a:t>
          </a:r>
          <a:r>
            <a:rPr lang="en-US" dirty="0"/>
            <a:t> Focuses on quick resolution.</a:t>
          </a:r>
        </a:p>
      </dgm:t>
    </dgm:pt>
    <dgm:pt modelId="{DD0F8D1F-9AA7-4068-82D8-6C2E9F5C0FF1}" type="parTrans" cxnId="{C03DF49C-E806-4258-A8B5-01DA93004462}">
      <dgm:prSet/>
      <dgm:spPr/>
      <dgm:t>
        <a:bodyPr/>
        <a:lstStyle/>
        <a:p>
          <a:endParaRPr lang="en-US"/>
        </a:p>
      </dgm:t>
    </dgm:pt>
    <dgm:pt modelId="{F7D4C470-566C-4FF8-8169-973C09C8910D}" type="sibTrans" cxnId="{C03DF49C-E806-4258-A8B5-01DA93004462}">
      <dgm:prSet/>
      <dgm:spPr/>
      <dgm:t>
        <a:bodyPr/>
        <a:lstStyle/>
        <a:p>
          <a:endParaRPr lang="en-US"/>
        </a:p>
      </dgm:t>
    </dgm:pt>
    <dgm:pt modelId="{2CBCF129-860B-45D0-9F1A-775F352F730E}">
      <dgm:prSet/>
      <dgm:spPr/>
      <dgm:t>
        <a:bodyPr/>
        <a:lstStyle/>
        <a:p>
          <a:r>
            <a:rPr lang="en-US" b="1" dirty="0"/>
            <a:t>L2 / L3:</a:t>
          </a:r>
          <a:r>
            <a:rPr lang="en-US" dirty="0"/>
            <a:t> Possess more in-depth knowledge; often the "regular" delivery team responsible for system maintenance.</a:t>
          </a:r>
        </a:p>
      </dgm:t>
    </dgm:pt>
    <dgm:pt modelId="{1A15D85A-E234-4FC3-9ACF-BAD5B6886E1F}" type="parTrans" cxnId="{182632EB-965A-4910-9B8D-C40F714AC354}">
      <dgm:prSet/>
      <dgm:spPr/>
      <dgm:t>
        <a:bodyPr/>
        <a:lstStyle/>
        <a:p>
          <a:endParaRPr lang="en-US"/>
        </a:p>
      </dgm:t>
    </dgm:pt>
    <dgm:pt modelId="{9A0E1AD2-19B1-4678-96EB-6E578F00A8DE}" type="sibTrans" cxnId="{182632EB-965A-4910-9B8D-C40F714AC354}">
      <dgm:prSet/>
      <dgm:spPr/>
      <dgm:t>
        <a:bodyPr/>
        <a:lstStyle/>
        <a:p>
          <a:endParaRPr lang="en-US"/>
        </a:p>
      </dgm:t>
    </dgm:pt>
    <dgm:pt modelId="{F0797280-60E8-49AD-90D5-0CFF45EE53F5}">
      <dgm:prSet/>
      <dgm:spPr/>
      <dgm:t>
        <a:bodyPr/>
        <a:lstStyle/>
        <a:p>
          <a:r>
            <a:rPr lang="en-US" b="1" dirty="0"/>
            <a:t>Priority Classification:</a:t>
          </a:r>
          <a:endParaRPr lang="en-US" dirty="0"/>
        </a:p>
      </dgm:t>
    </dgm:pt>
    <dgm:pt modelId="{CA8D5097-BFEC-4BFF-B520-E2A492D0019A}" type="parTrans" cxnId="{F8011D2F-38B7-4AFE-AD44-1A268565CBF7}">
      <dgm:prSet/>
      <dgm:spPr/>
      <dgm:t>
        <a:bodyPr/>
        <a:lstStyle/>
        <a:p>
          <a:endParaRPr lang="en-US"/>
        </a:p>
      </dgm:t>
    </dgm:pt>
    <dgm:pt modelId="{FC64EAA0-C4DD-4966-A092-B20510DF36BA}" type="sibTrans" cxnId="{F8011D2F-38B7-4AFE-AD44-1A268565CBF7}">
      <dgm:prSet/>
      <dgm:spPr/>
      <dgm:t>
        <a:bodyPr/>
        <a:lstStyle/>
        <a:p>
          <a:endParaRPr lang="en-US"/>
        </a:p>
      </dgm:t>
    </dgm:pt>
    <dgm:pt modelId="{2215E366-71B0-40CA-8155-FA1C8B9E26F6}">
      <dgm:prSet/>
      <dgm:spPr/>
      <dgm:t>
        <a:bodyPr/>
        <a:lstStyle/>
        <a:p>
          <a:r>
            <a:rPr lang="en-US" dirty="0"/>
            <a:t>Incidents are prioritized based on </a:t>
          </a:r>
          <a:r>
            <a:rPr lang="en-US" b="1" dirty="0"/>
            <a:t>Impact</a:t>
          </a:r>
          <a:r>
            <a:rPr lang="en-US" dirty="0"/>
            <a:t> and </a:t>
          </a:r>
          <a:r>
            <a:rPr lang="en-US" b="1" dirty="0"/>
            <a:t>Urgency</a:t>
          </a:r>
          <a:r>
            <a:rPr lang="en-US" dirty="0"/>
            <a:t>.</a:t>
          </a:r>
        </a:p>
      </dgm:t>
    </dgm:pt>
    <dgm:pt modelId="{FEF60D8F-FD0D-481C-A7B1-3C35B9487E4D}" type="parTrans" cxnId="{DC911EEF-77CC-4AA2-B8AF-C59219CC6459}">
      <dgm:prSet/>
      <dgm:spPr/>
      <dgm:t>
        <a:bodyPr/>
        <a:lstStyle/>
        <a:p>
          <a:endParaRPr lang="en-US"/>
        </a:p>
      </dgm:t>
    </dgm:pt>
    <dgm:pt modelId="{E97F8533-B8F0-480E-A269-A7B3B6AED083}" type="sibTrans" cxnId="{DC911EEF-77CC-4AA2-B8AF-C59219CC6459}">
      <dgm:prSet/>
      <dgm:spPr/>
      <dgm:t>
        <a:bodyPr/>
        <a:lstStyle/>
        <a:p>
          <a:endParaRPr lang="en-US"/>
        </a:p>
      </dgm:t>
    </dgm:pt>
    <dgm:pt modelId="{6E3B0C17-EDC3-4BF1-804C-26D0B3F1978A}">
      <dgm:prSet/>
      <dgm:spPr/>
      <dgm:t>
        <a:bodyPr/>
        <a:lstStyle/>
        <a:p>
          <a:r>
            <a:rPr lang="en-US" dirty="0"/>
            <a:t>Ranges from </a:t>
          </a:r>
          <a:r>
            <a:rPr lang="en-US" b="1" dirty="0"/>
            <a:t>P4</a:t>
          </a:r>
          <a:r>
            <a:rPr lang="en-US" dirty="0"/>
            <a:t> (low impact, individual) to </a:t>
          </a:r>
          <a:r>
            <a:rPr lang="en-US" b="1" dirty="0"/>
            <a:t>P1</a:t>
          </a:r>
          <a:r>
            <a:rPr lang="en-US" dirty="0"/>
            <a:t> (major impact, company-wide).</a:t>
          </a:r>
        </a:p>
      </dgm:t>
    </dgm:pt>
    <dgm:pt modelId="{37282404-56A5-41AD-9415-A561A80833A6}" type="parTrans" cxnId="{C37E2C56-83FE-410A-98A1-1B1D1A617C77}">
      <dgm:prSet/>
      <dgm:spPr/>
      <dgm:t>
        <a:bodyPr/>
        <a:lstStyle/>
        <a:p>
          <a:endParaRPr lang="en-US"/>
        </a:p>
      </dgm:t>
    </dgm:pt>
    <dgm:pt modelId="{EBC8C1DA-E849-4FF2-8479-223651CF0546}" type="sibTrans" cxnId="{C37E2C56-83FE-410A-98A1-1B1D1A617C77}">
      <dgm:prSet/>
      <dgm:spPr/>
      <dgm:t>
        <a:bodyPr/>
        <a:lstStyle/>
        <a:p>
          <a:endParaRPr lang="en-US"/>
        </a:p>
      </dgm:t>
    </dgm:pt>
    <dgm:pt modelId="{82BEC155-8AD8-4051-9948-F9760233E02B}" type="pres">
      <dgm:prSet presAssocID="{1CC6DF7E-8DB9-425E-A0B7-A154BA3A547D}" presName="root" presStyleCnt="0">
        <dgm:presLayoutVars>
          <dgm:dir/>
          <dgm:resizeHandles val="exact"/>
        </dgm:presLayoutVars>
      </dgm:prSet>
      <dgm:spPr/>
    </dgm:pt>
    <dgm:pt modelId="{6B197B17-B652-4E30-91DA-A61AA4ACF571}" type="pres">
      <dgm:prSet presAssocID="{86D1253D-88A9-4468-BD92-472E17A602D7}" presName="compNode" presStyleCnt="0"/>
      <dgm:spPr/>
    </dgm:pt>
    <dgm:pt modelId="{5BC3B9D6-F292-4B0C-8880-F77D46F6F6AB}" type="pres">
      <dgm:prSet presAssocID="{86D1253D-88A9-4468-BD92-472E17A602D7}" presName="bgRect" presStyleLbl="bgShp" presStyleIdx="0" presStyleCnt="3"/>
      <dgm:spPr/>
    </dgm:pt>
    <dgm:pt modelId="{D3C8227C-0F50-42B5-A015-C9C2E03EB31B}" type="pres">
      <dgm:prSet presAssocID="{86D1253D-88A9-4468-BD92-472E17A602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äkare"/>
        </a:ext>
      </dgm:extLst>
    </dgm:pt>
    <dgm:pt modelId="{C4231691-EB9E-4670-9ADD-CC416D43E202}" type="pres">
      <dgm:prSet presAssocID="{86D1253D-88A9-4468-BD92-472E17A602D7}" presName="spaceRect" presStyleCnt="0"/>
      <dgm:spPr/>
    </dgm:pt>
    <dgm:pt modelId="{BD3F6F3E-9978-455E-81D6-11FE056B8845}" type="pres">
      <dgm:prSet presAssocID="{86D1253D-88A9-4468-BD92-472E17A602D7}" presName="parTx" presStyleLbl="revTx" presStyleIdx="0" presStyleCnt="6">
        <dgm:presLayoutVars>
          <dgm:chMax val="0"/>
          <dgm:chPref val="0"/>
        </dgm:presLayoutVars>
      </dgm:prSet>
      <dgm:spPr/>
    </dgm:pt>
    <dgm:pt modelId="{C867F03D-CC90-4182-9574-B9AD2E76D0D7}" type="pres">
      <dgm:prSet presAssocID="{86D1253D-88A9-4468-BD92-472E17A602D7}" presName="desTx" presStyleLbl="revTx" presStyleIdx="1" presStyleCnt="6">
        <dgm:presLayoutVars/>
      </dgm:prSet>
      <dgm:spPr/>
    </dgm:pt>
    <dgm:pt modelId="{8639AC70-5160-47E1-8F0C-07BBBA4E1E51}" type="pres">
      <dgm:prSet presAssocID="{6578BE2E-9BCB-4682-BA1A-A9E374F6EC88}" presName="sibTrans" presStyleCnt="0"/>
      <dgm:spPr/>
    </dgm:pt>
    <dgm:pt modelId="{D085E5AC-7225-4D02-94C7-CD0937683A15}" type="pres">
      <dgm:prSet presAssocID="{04013EEE-DBBF-4700-BB74-B4FB11124EC3}" presName="compNode" presStyleCnt="0"/>
      <dgm:spPr/>
    </dgm:pt>
    <dgm:pt modelId="{F47B4512-B63E-416F-A0F9-8726D7532E45}" type="pres">
      <dgm:prSet presAssocID="{04013EEE-DBBF-4700-BB74-B4FB11124EC3}" presName="bgRect" presStyleLbl="bgShp" presStyleIdx="1" presStyleCnt="3"/>
      <dgm:spPr/>
    </dgm:pt>
    <dgm:pt modelId="{2B2905E1-1BDD-4738-8901-2DCDA6E6D3CF}" type="pres">
      <dgm:prSet presAssocID="{04013EEE-DBBF-4700-BB74-B4FB11124E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A8C1ADAF-5BA3-4518-B93A-55CD99C99432}" type="pres">
      <dgm:prSet presAssocID="{04013EEE-DBBF-4700-BB74-B4FB11124EC3}" presName="spaceRect" presStyleCnt="0"/>
      <dgm:spPr/>
    </dgm:pt>
    <dgm:pt modelId="{3471DBB0-D3A5-4428-B9E1-B9BFE5235596}" type="pres">
      <dgm:prSet presAssocID="{04013EEE-DBBF-4700-BB74-B4FB11124EC3}" presName="parTx" presStyleLbl="revTx" presStyleIdx="2" presStyleCnt="6">
        <dgm:presLayoutVars>
          <dgm:chMax val="0"/>
          <dgm:chPref val="0"/>
        </dgm:presLayoutVars>
      </dgm:prSet>
      <dgm:spPr/>
    </dgm:pt>
    <dgm:pt modelId="{99C8F39B-5F63-4FA6-AF94-AC4B021E5333}" type="pres">
      <dgm:prSet presAssocID="{04013EEE-DBBF-4700-BB74-B4FB11124EC3}" presName="desTx" presStyleLbl="revTx" presStyleIdx="3" presStyleCnt="6">
        <dgm:presLayoutVars/>
      </dgm:prSet>
      <dgm:spPr/>
    </dgm:pt>
    <dgm:pt modelId="{CD9B4D84-56E9-4486-9BA2-E7EF0CD1EA2E}" type="pres">
      <dgm:prSet presAssocID="{992B6AFB-713B-41EE-86D5-50EBB917DCA1}" presName="sibTrans" presStyleCnt="0"/>
      <dgm:spPr/>
    </dgm:pt>
    <dgm:pt modelId="{CD6D26E4-B569-4C5C-8BDF-DB7EC1E366BB}" type="pres">
      <dgm:prSet presAssocID="{F0797280-60E8-49AD-90D5-0CFF45EE53F5}" presName="compNode" presStyleCnt="0"/>
      <dgm:spPr/>
    </dgm:pt>
    <dgm:pt modelId="{3711918B-7112-4431-B826-91285E162440}" type="pres">
      <dgm:prSet presAssocID="{F0797280-60E8-49AD-90D5-0CFF45EE53F5}" presName="bgRect" presStyleLbl="bgShp" presStyleIdx="2" presStyleCnt="3"/>
      <dgm:spPr/>
    </dgm:pt>
    <dgm:pt modelId="{A462758F-3679-4DF4-B343-CF2FD46FE829}" type="pres">
      <dgm:prSet presAssocID="{F0797280-60E8-49AD-90D5-0CFF45EE53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yrverkerier"/>
        </a:ext>
      </dgm:extLst>
    </dgm:pt>
    <dgm:pt modelId="{84565643-E4C5-41FC-A50A-7B2141134323}" type="pres">
      <dgm:prSet presAssocID="{F0797280-60E8-49AD-90D5-0CFF45EE53F5}" presName="spaceRect" presStyleCnt="0"/>
      <dgm:spPr/>
    </dgm:pt>
    <dgm:pt modelId="{A5CA798F-E767-4377-92B9-7FD2459DBBCC}" type="pres">
      <dgm:prSet presAssocID="{F0797280-60E8-49AD-90D5-0CFF45EE53F5}" presName="parTx" presStyleLbl="revTx" presStyleIdx="4" presStyleCnt="6">
        <dgm:presLayoutVars>
          <dgm:chMax val="0"/>
          <dgm:chPref val="0"/>
        </dgm:presLayoutVars>
      </dgm:prSet>
      <dgm:spPr/>
    </dgm:pt>
    <dgm:pt modelId="{FA03D0A6-0268-47F8-A25E-A27294BB2FF3}" type="pres">
      <dgm:prSet presAssocID="{F0797280-60E8-49AD-90D5-0CFF45EE53F5}" presName="desTx" presStyleLbl="revTx" presStyleIdx="5" presStyleCnt="6">
        <dgm:presLayoutVars/>
      </dgm:prSet>
      <dgm:spPr/>
    </dgm:pt>
  </dgm:ptLst>
  <dgm:cxnLst>
    <dgm:cxn modelId="{8386EE1E-7E94-4399-A856-5F4B249890D1}" type="presOf" srcId="{04013EEE-DBBF-4700-BB74-B4FB11124EC3}" destId="{3471DBB0-D3A5-4428-B9E1-B9BFE5235596}" srcOrd="0" destOrd="0" presId="urn:microsoft.com/office/officeart/2018/2/layout/IconVerticalSolidList"/>
    <dgm:cxn modelId="{F8011D2F-38B7-4AFE-AD44-1A268565CBF7}" srcId="{1CC6DF7E-8DB9-425E-A0B7-A154BA3A547D}" destId="{F0797280-60E8-49AD-90D5-0CFF45EE53F5}" srcOrd="2" destOrd="0" parTransId="{CA8D5097-BFEC-4BFF-B520-E2A492D0019A}" sibTransId="{FC64EAA0-C4DD-4966-A092-B20510DF36BA}"/>
    <dgm:cxn modelId="{5635563D-FA44-4095-8937-2B8428E55BAA}" type="presOf" srcId="{86D1253D-88A9-4468-BD92-472E17A602D7}" destId="{BD3F6F3E-9978-455E-81D6-11FE056B8845}" srcOrd="0" destOrd="0" presId="urn:microsoft.com/office/officeart/2018/2/layout/IconVerticalSolidList"/>
    <dgm:cxn modelId="{F94F4641-8CFF-4241-B3BA-2319FE25CD2B}" type="presOf" srcId="{6E3B0C17-EDC3-4BF1-804C-26D0B3F1978A}" destId="{FA03D0A6-0268-47F8-A25E-A27294BB2FF3}" srcOrd="0" destOrd="1" presId="urn:microsoft.com/office/officeart/2018/2/layout/IconVerticalSolidList"/>
    <dgm:cxn modelId="{C37E2C56-83FE-410A-98A1-1B1D1A617C77}" srcId="{F0797280-60E8-49AD-90D5-0CFF45EE53F5}" destId="{6E3B0C17-EDC3-4BF1-804C-26D0B3F1978A}" srcOrd="1" destOrd="0" parTransId="{37282404-56A5-41AD-9415-A561A80833A6}" sibTransId="{EBC8C1DA-E849-4FF2-8479-223651CF0546}"/>
    <dgm:cxn modelId="{F02BF968-9989-43C1-A606-3306BFA51ACB}" srcId="{1CC6DF7E-8DB9-425E-A0B7-A154BA3A547D}" destId="{86D1253D-88A9-4468-BD92-472E17A602D7}" srcOrd="0" destOrd="0" parTransId="{416FB52E-41FD-4A09-90C5-337782E172EB}" sibTransId="{6578BE2E-9BCB-4682-BA1A-A9E374F6EC88}"/>
    <dgm:cxn modelId="{A7F04F6A-157D-49DA-B294-D93839DB2E4C}" type="presOf" srcId="{F0797280-60E8-49AD-90D5-0CFF45EE53F5}" destId="{A5CA798F-E767-4377-92B9-7FD2459DBBCC}" srcOrd="0" destOrd="0" presId="urn:microsoft.com/office/officeart/2018/2/layout/IconVerticalSolidList"/>
    <dgm:cxn modelId="{BE64096D-F352-42A5-BE6A-48F59E8A4489}" type="presOf" srcId="{406FC9A0-51B8-4287-845D-0E75B0CFCDF4}" destId="{C867F03D-CC90-4182-9574-B9AD2E76D0D7}" srcOrd="0" destOrd="0" presId="urn:microsoft.com/office/officeart/2018/2/layout/IconVerticalSolidList"/>
    <dgm:cxn modelId="{46E0EB75-2034-4F14-A634-677AA5805ADA}" type="presOf" srcId="{2CBCF129-860B-45D0-9F1A-775F352F730E}" destId="{99C8F39B-5F63-4FA6-AF94-AC4B021E5333}" srcOrd="0" destOrd="1" presId="urn:microsoft.com/office/officeart/2018/2/layout/IconVerticalSolidList"/>
    <dgm:cxn modelId="{C03DF49C-E806-4258-A8B5-01DA93004462}" srcId="{04013EEE-DBBF-4700-BB74-B4FB11124EC3}" destId="{2BEEF8CB-5C55-44E2-B04A-99F934C75E10}" srcOrd="0" destOrd="0" parTransId="{DD0F8D1F-9AA7-4068-82D8-6C2E9F5C0FF1}" sibTransId="{F7D4C470-566C-4FF8-8169-973C09C8910D}"/>
    <dgm:cxn modelId="{C49965A2-A774-45BD-9B62-9FE09803A48F}" type="presOf" srcId="{2BEEF8CB-5C55-44E2-B04A-99F934C75E10}" destId="{99C8F39B-5F63-4FA6-AF94-AC4B021E5333}" srcOrd="0" destOrd="0" presId="urn:microsoft.com/office/officeart/2018/2/layout/IconVerticalSolidList"/>
    <dgm:cxn modelId="{A7DEA7AB-A73D-4A2C-A23B-439CA904907C}" type="presOf" srcId="{2215E366-71B0-40CA-8155-FA1C8B9E26F6}" destId="{FA03D0A6-0268-47F8-A25E-A27294BB2FF3}" srcOrd="0" destOrd="0" presId="urn:microsoft.com/office/officeart/2018/2/layout/IconVerticalSolidList"/>
    <dgm:cxn modelId="{140DF2BB-6C0B-4826-BB20-58BC632E1CCB}" srcId="{86D1253D-88A9-4468-BD92-472E17A602D7}" destId="{406FC9A0-51B8-4287-845D-0E75B0CFCDF4}" srcOrd="0" destOrd="0" parTransId="{4825D4D4-4D14-40FF-9949-B0B6BB7F2BB3}" sibTransId="{8400E18F-0697-4752-87C9-CD21DF9B2DAE}"/>
    <dgm:cxn modelId="{9C92EDBF-7544-4311-A223-230D8BE763B2}" srcId="{1CC6DF7E-8DB9-425E-A0B7-A154BA3A547D}" destId="{04013EEE-DBBF-4700-BB74-B4FB11124EC3}" srcOrd="1" destOrd="0" parTransId="{B59DBD7E-5844-4245-898C-82E25914D80B}" sibTransId="{992B6AFB-713B-41EE-86D5-50EBB917DCA1}"/>
    <dgm:cxn modelId="{3A1C58D0-1467-4ABD-BC19-FBB6B3ACC9C1}" type="presOf" srcId="{1CC6DF7E-8DB9-425E-A0B7-A154BA3A547D}" destId="{82BEC155-8AD8-4051-9948-F9760233E02B}" srcOrd="0" destOrd="0" presId="urn:microsoft.com/office/officeart/2018/2/layout/IconVerticalSolidList"/>
    <dgm:cxn modelId="{182632EB-965A-4910-9B8D-C40F714AC354}" srcId="{04013EEE-DBBF-4700-BB74-B4FB11124EC3}" destId="{2CBCF129-860B-45D0-9F1A-775F352F730E}" srcOrd="1" destOrd="0" parTransId="{1A15D85A-E234-4FC3-9ACF-BAD5B6886E1F}" sibTransId="{9A0E1AD2-19B1-4678-96EB-6E578F00A8DE}"/>
    <dgm:cxn modelId="{DC911EEF-77CC-4AA2-B8AF-C59219CC6459}" srcId="{F0797280-60E8-49AD-90D5-0CFF45EE53F5}" destId="{2215E366-71B0-40CA-8155-FA1C8B9E26F6}" srcOrd="0" destOrd="0" parTransId="{FEF60D8F-FD0D-481C-A7B1-3C35B9487E4D}" sibTransId="{E97F8533-B8F0-480E-A269-A7B3B6AED083}"/>
    <dgm:cxn modelId="{F7E5C5D8-04C3-4B94-BA1D-E19BD9A51DF8}" type="presParOf" srcId="{82BEC155-8AD8-4051-9948-F9760233E02B}" destId="{6B197B17-B652-4E30-91DA-A61AA4ACF571}" srcOrd="0" destOrd="0" presId="urn:microsoft.com/office/officeart/2018/2/layout/IconVerticalSolidList"/>
    <dgm:cxn modelId="{54FB5341-0C01-486A-9B49-30276BE2EAE6}" type="presParOf" srcId="{6B197B17-B652-4E30-91DA-A61AA4ACF571}" destId="{5BC3B9D6-F292-4B0C-8880-F77D46F6F6AB}" srcOrd="0" destOrd="0" presId="urn:microsoft.com/office/officeart/2018/2/layout/IconVerticalSolidList"/>
    <dgm:cxn modelId="{3A93DC5B-313F-4608-B0A0-CEB5276D2D7C}" type="presParOf" srcId="{6B197B17-B652-4E30-91DA-A61AA4ACF571}" destId="{D3C8227C-0F50-42B5-A015-C9C2E03EB31B}" srcOrd="1" destOrd="0" presId="urn:microsoft.com/office/officeart/2018/2/layout/IconVerticalSolidList"/>
    <dgm:cxn modelId="{D3176281-E4DB-4BDF-9C45-BC81FCF6ADA9}" type="presParOf" srcId="{6B197B17-B652-4E30-91DA-A61AA4ACF571}" destId="{C4231691-EB9E-4670-9ADD-CC416D43E202}" srcOrd="2" destOrd="0" presId="urn:microsoft.com/office/officeart/2018/2/layout/IconVerticalSolidList"/>
    <dgm:cxn modelId="{DFF86CA3-3B66-423C-88A7-2ED2DA9FCDBE}" type="presParOf" srcId="{6B197B17-B652-4E30-91DA-A61AA4ACF571}" destId="{BD3F6F3E-9978-455E-81D6-11FE056B8845}" srcOrd="3" destOrd="0" presId="urn:microsoft.com/office/officeart/2018/2/layout/IconVerticalSolidList"/>
    <dgm:cxn modelId="{BEB3F6A9-EE55-4C16-B968-89A064703C75}" type="presParOf" srcId="{6B197B17-B652-4E30-91DA-A61AA4ACF571}" destId="{C867F03D-CC90-4182-9574-B9AD2E76D0D7}" srcOrd="4" destOrd="0" presId="urn:microsoft.com/office/officeart/2018/2/layout/IconVerticalSolidList"/>
    <dgm:cxn modelId="{D1DE5871-CC1E-4E77-B9E8-D27DDBA6A616}" type="presParOf" srcId="{82BEC155-8AD8-4051-9948-F9760233E02B}" destId="{8639AC70-5160-47E1-8F0C-07BBBA4E1E51}" srcOrd="1" destOrd="0" presId="urn:microsoft.com/office/officeart/2018/2/layout/IconVerticalSolidList"/>
    <dgm:cxn modelId="{B395FCED-DF61-45ED-8C81-5F0CC72443B8}" type="presParOf" srcId="{82BEC155-8AD8-4051-9948-F9760233E02B}" destId="{D085E5AC-7225-4D02-94C7-CD0937683A15}" srcOrd="2" destOrd="0" presId="urn:microsoft.com/office/officeart/2018/2/layout/IconVerticalSolidList"/>
    <dgm:cxn modelId="{2AACFCCC-432A-4BDA-9157-80E84ADEA948}" type="presParOf" srcId="{D085E5AC-7225-4D02-94C7-CD0937683A15}" destId="{F47B4512-B63E-416F-A0F9-8726D7532E45}" srcOrd="0" destOrd="0" presId="urn:microsoft.com/office/officeart/2018/2/layout/IconVerticalSolidList"/>
    <dgm:cxn modelId="{3425CF49-B623-41A5-A41B-5AC69B9C928B}" type="presParOf" srcId="{D085E5AC-7225-4D02-94C7-CD0937683A15}" destId="{2B2905E1-1BDD-4738-8901-2DCDA6E6D3CF}" srcOrd="1" destOrd="0" presId="urn:microsoft.com/office/officeart/2018/2/layout/IconVerticalSolidList"/>
    <dgm:cxn modelId="{D986984F-4810-4B89-9781-4D24414E141A}" type="presParOf" srcId="{D085E5AC-7225-4D02-94C7-CD0937683A15}" destId="{A8C1ADAF-5BA3-4518-B93A-55CD99C99432}" srcOrd="2" destOrd="0" presId="urn:microsoft.com/office/officeart/2018/2/layout/IconVerticalSolidList"/>
    <dgm:cxn modelId="{27130487-046F-4616-A1BF-15A73B6FA3F8}" type="presParOf" srcId="{D085E5AC-7225-4D02-94C7-CD0937683A15}" destId="{3471DBB0-D3A5-4428-B9E1-B9BFE5235596}" srcOrd="3" destOrd="0" presId="urn:microsoft.com/office/officeart/2018/2/layout/IconVerticalSolidList"/>
    <dgm:cxn modelId="{B40ED35B-3486-4260-B591-552519C61CA2}" type="presParOf" srcId="{D085E5AC-7225-4D02-94C7-CD0937683A15}" destId="{99C8F39B-5F63-4FA6-AF94-AC4B021E5333}" srcOrd="4" destOrd="0" presId="urn:microsoft.com/office/officeart/2018/2/layout/IconVerticalSolidList"/>
    <dgm:cxn modelId="{C77242F7-8C5D-4222-B823-E5EBE77B1537}" type="presParOf" srcId="{82BEC155-8AD8-4051-9948-F9760233E02B}" destId="{CD9B4D84-56E9-4486-9BA2-E7EF0CD1EA2E}" srcOrd="3" destOrd="0" presId="urn:microsoft.com/office/officeart/2018/2/layout/IconVerticalSolidList"/>
    <dgm:cxn modelId="{BCAD7854-8FB8-4DAE-AB79-4EAEAD33D2CD}" type="presParOf" srcId="{82BEC155-8AD8-4051-9948-F9760233E02B}" destId="{CD6D26E4-B569-4C5C-8BDF-DB7EC1E366BB}" srcOrd="4" destOrd="0" presId="urn:microsoft.com/office/officeart/2018/2/layout/IconVerticalSolidList"/>
    <dgm:cxn modelId="{9B1D5DA0-D8CF-4308-BA75-2F5C61EB52F0}" type="presParOf" srcId="{CD6D26E4-B569-4C5C-8BDF-DB7EC1E366BB}" destId="{3711918B-7112-4431-B826-91285E162440}" srcOrd="0" destOrd="0" presId="urn:microsoft.com/office/officeart/2018/2/layout/IconVerticalSolidList"/>
    <dgm:cxn modelId="{F16018E8-EB3E-40AD-BBB5-DFC58DE9ED52}" type="presParOf" srcId="{CD6D26E4-B569-4C5C-8BDF-DB7EC1E366BB}" destId="{A462758F-3679-4DF4-B343-CF2FD46FE829}" srcOrd="1" destOrd="0" presId="urn:microsoft.com/office/officeart/2018/2/layout/IconVerticalSolidList"/>
    <dgm:cxn modelId="{4972A146-F839-465F-83F9-848CB514898F}" type="presParOf" srcId="{CD6D26E4-B569-4C5C-8BDF-DB7EC1E366BB}" destId="{84565643-E4C5-41FC-A50A-7B2141134323}" srcOrd="2" destOrd="0" presId="urn:microsoft.com/office/officeart/2018/2/layout/IconVerticalSolidList"/>
    <dgm:cxn modelId="{81CBED2D-C6BE-4BA6-B67D-B97428C66C5F}" type="presParOf" srcId="{CD6D26E4-B569-4C5C-8BDF-DB7EC1E366BB}" destId="{A5CA798F-E767-4377-92B9-7FD2459DBBCC}" srcOrd="3" destOrd="0" presId="urn:microsoft.com/office/officeart/2018/2/layout/IconVerticalSolidList"/>
    <dgm:cxn modelId="{EB1CC701-DF40-414B-B6CB-5E33266F1585}" type="presParOf" srcId="{CD6D26E4-B569-4C5C-8BDF-DB7EC1E366BB}" destId="{FA03D0A6-0268-47F8-A25E-A27294BB2FF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072688-58EC-4557-BEC9-FCC7BA317B9D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7A7E9A-6CF2-43E7-BB85-5C2CBF5341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Approach:</a:t>
          </a:r>
          <a:r>
            <a:rPr lang="en-US" dirty="0"/>
            <a:t> A qualitative, dual-methodology.</a:t>
          </a:r>
        </a:p>
      </dgm:t>
    </dgm:pt>
    <dgm:pt modelId="{DD3C79BA-8330-4AD1-9F4E-30F6606A6D65}" type="parTrans" cxnId="{77B33AAE-856F-4A12-9553-D19AC70EC5BE}">
      <dgm:prSet/>
      <dgm:spPr/>
      <dgm:t>
        <a:bodyPr/>
        <a:lstStyle/>
        <a:p>
          <a:endParaRPr lang="en-US"/>
        </a:p>
      </dgm:t>
    </dgm:pt>
    <dgm:pt modelId="{71CCF629-2B93-4A9F-87E6-3F5ED96FBCF6}" type="sibTrans" cxnId="{77B33AAE-856F-4A12-9553-D19AC70EC5BE}">
      <dgm:prSet/>
      <dgm:spPr/>
      <dgm:t>
        <a:bodyPr/>
        <a:lstStyle/>
        <a:p>
          <a:endParaRPr lang="en-US"/>
        </a:p>
      </dgm:t>
    </dgm:pt>
    <dgm:pt modelId="{A278446A-515C-44E3-881B-1CDA7944E2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1. Literature Review:</a:t>
          </a:r>
          <a:endParaRPr lang="en-US" dirty="0"/>
        </a:p>
      </dgm:t>
    </dgm:pt>
    <dgm:pt modelId="{00A8028A-F0F6-469C-A6A4-B8F6669779CD}" type="parTrans" cxnId="{E24A07D7-E838-4E47-A262-535839349D72}">
      <dgm:prSet/>
      <dgm:spPr/>
      <dgm:t>
        <a:bodyPr/>
        <a:lstStyle/>
        <a:p>
          <a:endParaRPr lang="en-US"/>
        </a:p>
      </dgm:t>
    </dgm:pt>
    <dgm:pt modelId="{B67C9900-1361-4D76-A657-C060B4861B51}" type="sibTrans" cxnId="{E24A07D7-E838-4E47-A262-535839349D72}">
      <dgm:prSet/>
      <dgm:spPr/>
      <dgm:t>
        <a:bodyPr/>
        <a:lstStyle/>
        <a:p>
          <a:endParaRPr lang="en-US"/>
        </a:p>
      </dgm:t>
    </dgm:pt>
    <dgm:pt modelId="{A1BF53E4-8A5B-4E72-9A55-1A1AA2CB6B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conducted a systematic review to establish the theoretical foundation of ITSM and the evolution of ITIL.</a:t>
          </a:r>
        </a:p>
      </dgm:t>
    </dgm:pt>
    <dgm:pt modelId="{4709AF26-31BD-45D4-817E-35D16C091F7C}" type="parTrans" cxnId="{9B2BC62C-F853-480D-8AD8-1AFEA7C086DA}">
      <dgm:prSet/>
      <dgm:spPr/>
      <dgm:t>
        <a:bodyPr/>
        <a:lstStyle/>
        <a:p>
          <a:endParaRPr lang="en-US"/>
        </a:p>
      </dgm:t>
    </dgm:pt>
    <dgm:pt modelId="{CC06BF7D-9BD7-4AB0-A6B6-38AD1B09BF04}" type="sibTrans" cxnId="{9B2BC62C-F853-480D-8AD8-1AFEA7C086DA}">
      <dgm:prSet/>
      <dgm:spPr/>
      <dgm:t>
        <a:bodyPr/>
        <a:lstStyle/>
        <a:p>
          <a:endParaRPr lang="en-US"/>
        </a:p>
      </dgm:t>
    </dgm:pt>
    <dgm:pt modelId="{8204C3E0-ED69-406B-B1E7-73B9010866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2. Expert Interview:</a:t>
          </a:r>
          <a:endParaRPr lang="en-US"/>
        </a:p>
      </dgm:t>
    </dgm:pt>
    <dgm:pt modelId="{4609833A-2DFB-41AF-AEDF-A62EFDA22647}" type="parTrans" cxnId="{A42A6B72-7BEC-4407-AD78-F245BC764F48}">
      <dgm:prSet/>
      <dgm:spPr/>
      <dgm:t>
        <a:bodyPr/>
        <a:lstStyle/>
        <a:p>
          <a:endParaRPr lang="en-US"/>
        </a:p>
      </dgm:t>
    </dgm:pt>
    <dgm:pt modelId="{215AAA5A-2129-4CE0-8B21-3873B93E5551}" type="sibTrans" cxnId="{A42A6B72-7BEC-4407-AD78-F245BC764F48}">
      <dgm:prSet/>
      <dgm:spPr/>
      <dgm:t>
        <a:bodyPr/>
        <a:lstStyle/>
        <a:p>
          <a:endParaRPr lang="en-US"/>
        </a:p>
      </dgm:t>
    </dgm:pt>
    <dgm:pt modelId="{98D660A5-FE0D-4E28-993E-E7EA8AA4A8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data was collected from </a:t>
          </a:r>
          <a:r>
            <a:rPr lang="en-US" b="1"/>
            <a:t>Jeroen Visser</a:t>
          </a:r>
          <a:r>
            <a:rPr lang="en-US"/>
            <a:t>, a Program Transformation Director.</a:t>
          </a:r>
        </a:p>
      </dgm:t>
    </dgm:pt>
    <dgm:pt modelId="{5A348B1B-FF16-40F3-8D6A-0F6B186E55BE}" type="parTrans" cxnId="{7D8F987F-9541-41E4-BDE1-9F9FBAEDB600}">
      <dgm:prSet/>
      <dgm:spPr/>
      <dgm:t>
        <a:bodyPr/>
        <a:lstStyle/>
        <a:p>
          <a:endParaRPr lang="en-US"/>
        </a:p>
      </dgm:t>
    </dgm:pt>
    <dgm:pt modelId="{B0D35F8E-2DF0-4C86-8E9C-C994EF4A059A}" type="sibTrans" cxnId="{7D8F987F-9541-41E4-BDE1-9F9FBAEDB600}">
      <dgm:prSet/>
      <dgm:spPr/>
      <dgm:t>
        <a:bodyPr/>
        <a:lstStyle/>
        <a:p>
          <a:endParaRPr lang="en-US"/>
        </a:p>
      </dgm:t>
    </dgm:pt>
    <dgm:pt modelId="{2CFD7FA3-FA69-4829-BDD6-A5839C8070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 has </a:t>
          </a:r>
          <a:r>
            <a:rPr lang="en-US" b="1"/>
            <a:t>over 25 years</a:t>
          </a:r>
          <a:r>
            <a:rPr lang="en-US"/>
            <a:t> of experience in global IT at companies like Wipro, Hewlett-Packard (HP), and EDS.</a:t>
          </a:r>
        </a:p>
      </dgm:t>
    </dgm:pt>
    <dgm:pt modelId="{A8832D94-D6B9-40E6-AB57-CBF9276E012A}" type="parTrans" cxnId="{C6CED10C-D359-4F4A-A592-FACEEB10AF85}">
      <dgm:prSet/>
      <dgm:spPr/>
      <dgm:t>
        <a:bodyPr/>
        <a:lstStyle/>
        <a:p>
          <a:endParaRPr lang="en-US"/>
        </a:p>
      </dgm:t>
    </dgm:pt>
    <dgm:pt modelId="{50C458C8-6222-4424-BA3A-1AD75D08B985}" type="sibTrans" cxnId="{C6CED10C-D359-4F4A-A592-FACEEB10AF85}">
      <dgm:prSet/>
      <dgm:spPr/>
      <dgm:t>
        <a:bodyPr/>
        <a:lstStyle/>
        <a:p>
          <a:endParaRPr lang="en-US"/>
        </a:p>
      </dgm:t>
    </dgm:pt>
    <dgm:pt modelId="{EB7B3F2D-AC56-42D3-810B-23B63B902E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3. Data Analysis:</a:t>
          </a:r>
          <a:endParaRPr lang="en-US"/>
        </a:p>
      </dgm:t>
    </dgm:pt>
    <dgm:pt modelId="{C9DEACFF-B9C3-4C0A-B091-5CE5159A7A2E}" type="parTrans" cxnId="{F58E6D7B-D803-455D-9BAF-D3B7D923C57E}">
      <dgm:prSet/>
      <dgm:spPr/>
      <dgm:t>
        <a:bodyPr/>
        <a:lstStyle/>
        <a:p>
          <a:endParaRPr lang="en-US"/>
        </a:p>
      </dgm:t>
    </dgm:pt>
    <dgm:pt modelId="{19B92685-94C6-4333-9FDA-614A84CEEEEF}" type="sibTrans" cxnId="{F58E6D7B-D803-455D-9BAF-D3B7D923C57E}">
      <dgm:prSet/>
      <dgm:spPr/>
      <dgm:t>
        <a:bodyPr/>
        <a:lstStyle/>
        <a:p>
          <a:endParaRPr lang="en-US"/>
        </a:p>
      </dgm:t>
    </dgm:pt>
    <dgm:pt modelId="{953B76EE-D689-4965-AA3A-C7699CBA76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expert's insights were qualitatively analyzed and structured using the </a:t>
          </a:r>
          <a:r>
            <a:rPr lang="en-US" b="1" dirty="0"/>
            <a:t>SWOT framework</a:t>
          </a:r>
          <a:r>
            <a:rPr lang="en-US" dirty="0"/>
            <a:t> (Strengths, Weaknesses, Opportunities, Threats).</a:t>
          </a:r>
        </a:p>
      </dgm:t>
    </dgm:pt>
    <dgm:pt modelId="{A133EA5B-A3C9-4D86-A60D-BC6226240E6E}" type="parTrans" cxnId="{3FF6B6EA-0245-4CAB-9BF3-752442B59B39}">
      <dgm:prSet/>
      <dgm:spPr/>
      <dgm:t>
        <a:bodyPr/>
        <a:lstStyle/>
        <a:p>
          <a:endParaRPr lang="en-US"/>
        </a:p>
      </dgm:t>
    </dgm:pt>
    <dgm:pt modelId="{72351B30-696A-46EE-B280-2997BD3A9CE2}" type="sibTrans" cxnId="{3FF6B6EA-0245-4CAB-9BF3-752442B59B39}">
      <dgm:prSet/>
      <dgm:spPr/>
      <dgm:t>
        <a:bodyPr/>
        <a:lstStyle/>
        <a:p>
          <a:endParaRPr lang="en-US"/>
        </a:p>
      </dgm:t>
    </dgm:pt>
    <dgm:pt modelId="{52D52E45-5B72-46B0-BC1B-9C4BFACA48F1}" type="pres">
      <dgm:prSet presAssocID="{58072688-58EC-4557-BEC9-FCC7BA317B9D}" presName="root" presStyleCnt="0">
        <dgm:presLayoutVars>
          <dgm:dir/>
          <dgm:resizeHandles val="exact"/>
        </dgm:presLayoutVars>
      </dgm:prSet>
      <dgm:spPr/>
    </dgm:pt>
    <dgm:pt modelId="{E95089EC-C72D-48FF-90DE-A26B0D380034}" type="pres">
      <dgm:prSet presAssocID="{297A7E9A-6CF2-43E7-BB85-5C2CBF5341D0}" presName="compNode" presStyleCnt="0"/>
      <dgm:spPr/>
    </dgm:pt>
    <dgm:pt modelId="{F466AB15-0E71-41DA-8B44-574DE5ACBA5D}" type="pres">
      <dgm:prSet presAssocID="{297A7E9A-6CF2-43E7-BB85-5C2CBF5341D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F839E75-888E-456C-BBA3-0FEB04EE0D9A}" type="pres">
      <dgm:prSet presAssocID="{297A7E9A-6CF2-43E7-BB85-5C2CBF5341D0}" presName="iconSpace" presStyleCnt="0"/>
      <dgm:spPr/>
    </dgm:pt>
    <dgm:pt modelId="{BCDB009C-BC38-486D-97A0-FAAE0637D66F}" type="pres">
      <dgm:prSet presAssocID="{297A7E9A-6CF2-43E7-BB85-5C2CBF5341D0}" presName="parTx" presStyleLbl="revTx" presStyleIdx="0" presStyleCnt="8">
        <dgm:presLayoutVars>
          <dgm:chMax val="0"/>
          <dgm:chPref val="0"/>
        </dgm:presLayoutVars>
      </dgm:prSet>
      <dgm:spPr/>
    </dgm:pt>
    <dgm:pt modelId="{EB958E37-02BA-45A9-B970-AE483091D8E7}" type="pres">
      <dgm:prSet presAssocID="{297A7E9A-6CF2-43E7-BB85-5C2CBF5341D0}" presName="txSpace" presStyleCnt="0"/>
      <dgm:spPr/>
    </dgm:pt>
    <dgm:pt modelId="{6463C67E-A969-4F4B-BE19-D8967FE2B608}" type="pres">
      <dgm:prSet presAssocID="{297A7E9A-6CF2-43E7-BB85-5C2CBF5341D0}" presName="desTx" presStyleLbl="revTx" presStyleIdx="1" presStyleCnt="8">
        <dgm:presLayoutVars/>
      </dgm:prSet>
      <dgm:spPr/>
    </dgm:pt>
    <dgm:pt modelId="{B0300BB4-4EC9-4590-8343-F9F8B9739ED5}" type="pres">
      <dgm:prSet presAssocID="{71CCF629-2B93-4A9F-87E6-3F5ED96FBCF6}" presName="sibTrans" presStyleCnt="0"/>
      <dgm:spPr/>
    </dgm:pt>
    <dgm:pt modelId="{EC6C420A-0CC5-4FB8-BECA-FB42DDA25E4A}" type="pres">
      <dgm:prSet presAssocID="{A278446A-515C-44E3-881B-1CDA7944E283}" presName="compNode" presStyleCnt="0"/>
      <dgm:spPr/>
    </dgm:pt>
    <dgm:pt modelId="{BFDB2916-BC00-4BCD-9C03-8D8A361D77AA}" type="pres">
      <dgm:prSet presAssocID="{A278446A-515C-44E3-881B-1CDA7944E2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öcker"/>
        </a:ext>
      </dgm:extLst>
    </dgm:pt>
    <dgm:pt modelId="{65A47309-F3BE-453D-8144-3FBEC38E12B1}" type="pres">
      <dgm:prSet presAssocID="{A278446A-515C-44E3-881B-1CDA7944E283}" presName="iconSpace" presStyleCnt="0"/>
      <dgm:spPr/>
    </dgm:pt>
    <dgm:pt modelId="{0E2C6F82-2FB1-4830-BC6A-FCF25D7A463F}" type="pres">
      <dgm:prSet presAssocID="{A278446A-515C-44E3-881B-1CDA7944E283}" presName="parTx" presStyleLbl="revTx" presStyleIdx="2" presStyleCnt="8">
        <dgm:presLayoutVars>
          <dgm:chMax val="0"/>
          <dgm:chPref val="0"/>
        </dgm:presLayoutVars>
      </dgm:prSet>
      <dgm:spPr/>
    </dgm:pt>
    <dgm:pt modelId="{64394B45-B079-48F3-AA6A-CCE34CFE2380}" type="pres">
      <dgm:prSet presAssocID="{A278446A-515C-44E3-881B-1CDA7944E283}" presName="txSpace" presStyleCnt="0"/>
      <dgm:spPr/>
    </dgm:pt>
    <dgm:pt modelId="{2E6CA071-E24A-497E-BF41-6038FAF2E4CA}" type="pres">
      <dgm:prSet presAssocID="{A278446A-515C-44E3-881B-1CDA7944E283}" presName="desTx" presStyleLbl="revTx" presStyleIdx="3" presStyleCnt="8">
        <dgm:presLayoutVars/>
      </dgm:prSet>
      <dgm:spPr/>
    </dgm:pt>
    <dgm:pt modelId="{98213FC4-B020-45E8-9D88-E29A49857029}" type="pres">
      <dgm:prSet presAssocID="{B67C9900-1361-4D76-A657-C060B4861B51}" presName="sibTrans" presStyleCnt="0"/>
      <dgm:spPr/>
    </dgm:pt>
    <dgm:pt modelId="{4B285AFD-7133-45E0-BD06-AB8CD2FAAFFA}" type="pres">
      <dgm:prSet presAssocID="{8204C3E0-ED69-406B-B1E7-73B90108660F}" presName="compNode" presStyleCnt="0"/>
      <dgm:spPr/>
    </dgm:pt>
    <dgm:pt modelId="{27DF4805-F99D-41BB-94CF-BA8E5D683DA4}" type="pres">
      <dgm:prSet presAssocID="{8204C3E0-ED69-406B-B1E7-73B9010866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pten"/>
        </a:ext>
      </dgm:extLst>
    </dgm:pt>
    <dgm:pt modelId="{2E69697C-A2FF-4033-A3C1-0924CA29892C}" type="pres">
      <dgm:prSet presAssocID="{8204C3E0-ED69-406B-B1E7-73B90108660F}" presName="iconSpace" presStyleCnt="0"/>
      <dgm:spPr/>
    </dgm:pt>
    <dgm:pt modelId="{126DC0E4-DCE3-4230-8D58-A78AD225D5FE}" type="pres">
      <dgm:prSet presAssocID="{8204C3E0-ED69-406B-B1E7-73B90108660F}" presName="parTx" presStyleLbl="revTx" presStyleIdx="4" presStyleCnt="8">
        <dgm:presLayoutVars>
          <dgm:chMax val="0"/>
          <dgm:chPref val="0"/>
        </dgm:presLayoutVars>
      </dgm:prSet>
      <dgm:spPr/>
    </dgm:pt>
    <dgm:pt modelId="{C15A53D3-445F-4F4D-BF1D-7EE1E60516E8}" type="pres">
      <dgm:prSet presAssocID="{8204C3E0-ED69-406B-B1E7-73B90108660F}" presName="txSpace" presStyleCnt="0"/>
      <dgm:spPr/>
    </dgm:pt>
    <dgm:pt modelId="{A8A6B1FF-844F-4CF1-86C9-463C17A2722E}" type="pres">
      <dgm:prSet presAssocID="{8204C3E0-ED69-406B-B1E7-73B90108660F}" presName="desTx" presStyleLbl="revTx" presStyleIdx="5" presStyleCnt="8">
        <dgm:presLayoutVars/>
      </dgm:prSet>
      <dgm:spPr/>
    </dgm:pt>
    <dgm:pt modelId="{CC8AAC7C-FC19-4665-9D22-CA8933CABFBE}" type="pres">
      <dgm:prSet presAssocID="{215AAA5A-2129-4CE0-8B21-3873B93E5551}" presName="sibTrans" presStyleCnt="0"/>
      <dgm:spPr/>
    </dgm:pt>
    <dgm:pt modelId="{1BFED3F0-56AA-4B37-A490-1406312C3136}" type="pres">
      <dgm:prSet presAssocID="{EB7B3F2D-AC56-42D3-810B-23B63B902ED7}" presName="compNode" presStyleCnt="0"/>
      <dgm:spPr/>
    </dgm:pt>
    <dgm:pt modelId="{744B6700-732E-4D19-AE70-01B471459FD8}" type="pres">
      <dgm:prSet presAssocID="{EB7B3F2D-AC56-42D3-810B-23B63B902E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k"/>
        </a:ext>
      </dgm:extLst>
    </dgm:pt>
    <dgm:pt modelId="{7A9BCEBD-C54B-47FF-9A8F-C9EDA8F5339A}" type="pres">
      <dgm:prSet presAssocID="{EB7B3F2D-AC56-42D3-810B-23B63B902ED7}" presName="iconSpace" presStyleCnt="0"/>
      <dgm:spPr/>
    </dgm:pt>
    <dgm:pt modelId="{81E10088-F0A0-432F-8DB3-470B86ABBBA9}" type="pres">
      <dgm:prSet presAssocID="{EB7B3F2D-AC56-42D3-810B-23B63B902ED7}" presName="parTx" presStyleLbl="revTx" presStyleIdx="6" presStyleCnt="8">
        <dgm:presLayoutVars>
          <dgm:chMax val="0"/>
          <dgm:chPref val="0"/>
        </dgm:presLayoutVars>
      </dgm:prSet>
      <dgm:spPr/>
    </dgm:pt>
    <dgm:pt modelId="{729F0153-192D-491A-80C2-91C419C0BBEE}" type="pres">
      <dgm:prSet presAssocID="{EB7B3F2D-AC56-42D3-810B-23B63B902ED7}" presName="txSpace" presStyleCnt="0"/>
      <dgm:spPr/>
    </dgm:pt>
    <dgm:pt modelId="{20E45F54-E90B-4BC0-81C3-A0C68B95B222}" type="pres">
      <dgm:prSet presAssocID="{EB7B3F2D-AC56-42D3-810B-23B63B902ED7}" presName="desTx" presStyleLbl="revTx" presStyleIdx="7" presStyleCnt="8">
        <dgm:presLayoutVars/>
      </dgm:prSet>
      <dgm:spPr/>
    </dgm:pt>
  </dgm:ptLst>
  <dgm:cxnLst>
    <dgm:cxn modelId="{C6CED10C-D359-4F4A-A592-FACEEB10AF85}" srcId="{8204C3E0-ED69-406B-B1E7-73B90108660F}" destId="{2CFD7FA3-FA69-4829-BDD6-A5839C8070F4}" srcOrd="1" destOrd="0" parTransId="{A8832D94-D6B9-40E6-AB57-CBF9276E012A}" sibTransId="{50C458C8-6222-4424-BA3A-1AD75D08B985}"/>
    <dgm:cxn modelId="{9B2BC62C-F853-480D-8AD8-1AFEA7C086DA}" srcId="{A278446A-515C-44E3-881B-1CDA7944E283}" destId="{A1BF53E4-8A5B-4E72-9A55-1A1AA2CB6B3C}" srcOrd="0" destOrd="0" parTransId="{4709AF26-31BD-45D4-817E-35D16C091F7C}" sibTransId="{CC06BF7D-9BD7-4AB0-A6B6-38AD1B09BF04}"/>
    <dgm:cxn modelId="{CD1F9730-E41B-48E4-BF7F-C9B0D39F200E}" type="presOf" srcId="{297A7E9A-6CF2-43E7-BB85-5C2CBF5341D0}" destId="{BCDB009C-BC38-486D-97A0-FAAE0637D66F}" srcOrd="0" destOrd="0" presId="urn:microsoft.com/office/officeart/2018/5/layout/CenteredIconLabelDescriptionList"/>
    <dgm:cxn modelId="{B49EDF51-4563-4302-B86C-FC92988CD6C1}" type="presOf" srcId="{EB7B3F2D-AC56-42D3-810B-23B63B902ED7}" destId="{81E10088-F0A0-432F-8DB3-470B86ABBBA9}" srcOrd="0" destOrd="0" presId="urn:microsoft.com/office/officeart/2018/5/layout/CenteredIconLabelDescriptionList"/>
    <dgm:cxn modelId="{74935C52-535D-40E3-BDF7-098717E16F50}" type="presOf" srcId="{98D660A5-FE0D-4E28-993E-E7EA8AA4A82B}" destId="{A8A6B1FF-844F-4CF1-86C9-463C17A2722E}" srcOrd="0" destOrd="0" presId="urn:microsoft.com/office/officeart/2018/5/layout/CenteredIconLabelDescriptionList"/>
    <dgm:cxn modelId="{6D322C5A-713D-496C-9FC8-7AC52A5C1E9B}" type="presOf" srcId="{A278446A-515C-44E3-881B-1CDA7944E283}" destId="{0E2C6F82-2FB1-4830-BC6A-FCF25D7A463F}" srcOrd="0" destOrd="0" presId="urn:microsoft.com/office/officeart/2018/5/layout/CenteredIconLabelDescriptionList"/>
    <dgm:cxn modelId="{A42A6B72-7BEC-4407-AD78-F245BC764F48}" srcId="{58072688-58EC-4557-BEC9-FCC7BA317B9D}" destId="{8204C3E0-ED69-406B-B1E7-73B90108660F}" srcOrd="2" destOrd="0" parTransId="{4609833A-2DFB-41AF-AEDF-A62EFDA22647}" sibTransId="{215AAA5A-2129-4CE0-8B21-3873B93E5551}"/>
    <dgm:cxn modelId="{F58E6D7B-D803-455D-9BAF-D3B7D923C57E}" srcId="{58072688-58EC-4557-BEC9-FCC7BA317B9D}" destId="{EB7B3F2D-AC56-42D3-810B-23B63B902ED7}" srcOrd="3" destOrd="0" parTransId="{C9DEACFF-B9C3-4C0A-B091-5CE5159A7A2E}" sibTransId="{19B92685-94C6-4333-9FDA-614A84CEEEEF}"/>
    <dgm:cxn modelId="{7D8F987F-9541-41E4-BDE1-9F9FBAEDB600}" srcId="{8204C3E0-ED69-406B-B1E7-73B90108660F}" destId="{98D660A5-FE0D-4E28-993E-E7EA8AA4A82B}" srcOrd="0" destOrd="0" parTransId="{5A348B1B-FF16-40F3-8D6A-0F6B186E55BE}" sibTransId="{B0D35F8E-2DF0-4C86-8E9C-C994EF4A059A}"/>
    <dgm:cxn modelId="{77B33AAE-856F-4A12-9553-D19AC70EC5BE}" srcId="{58072688-58EC-4557-BEC9-FCC7BA317B9D}" destId="{297A7E9A-6CF2-43E7-BB85-5C2CBF5341D0}" srcOrd="0" destOrd="0" parTransId="{DD3C79BA-8330-4AD1-9F4E-30F6606A6D65}" sibTransId="{71CCF629-2B93-4A9F-87E6-3F5ED96FBCF6}"/>
    <dgm:cxn modelId="{899B24CC-908C-4EDD-B6D2-43DCF1DF4F88}" type="presOf" srcId="{A1BF53E4-8A5B-4E72-9A55-1A1AA2CB6B3C}" destId="{2E6CA071-E24A-497E-BF41-6038FAF2E4CA}" srcOrd="0" destOrd="0" presId="urn:microsoft.com/office/officeart/2018/5/layout/CenteredIconLabelDescriptionList"/>
    <dgm:cxn modelId="{4A95E9D0-B7CF-4E1E-90D7-C94A8013CE37}" type="presOf" srcId="{953B76EE-D689-4965-AA3A-C7699CBA76DB}" destId="{20E45F54-E90B-4BC0-81C3-A0C68B95B222}" srcOrd="0" destOrd="0" presId="urn:microsoft.com/office/officeart/2018/5/layout/CenteredIconLabelDescriptionList"/>
    <dgm:cxn modelId="{E24A07D7-E838-4E47-A262-535839349D72}" srcId="{58072688-58EC-4557-BEC9-FCC7BA317B9D}" destId="{A278446A-515C-44E3-881B-1CDA7944E283}" srcOrd="1" destOrd="0" parTransId="{00A8028A-F0F6-469C-A6A4-B8F6669779CD}" sibTransId="{B67C9900-1361-4D76-A657-C060B4861B51}"/>
    <dgm:cxn modelId="{4C0CA2E3-B00C-4C03-AF36-74478A56A8AB}" type="presOf" srcId="{2CFD7FA3-FA69-4829-BDD6-A5839C8070F4}" destId="{A8A6B1FF-844F-4CF1-86C9-463C17A2722E}" srcOrd="0" destOrd="1" presId="urn:microsoft.com/office/officeart/2018/5/layout/CenteredIconLabelDescriptionList"/>
    <dgm:cxn modelId="{3FF6B6EA-0245-4CAB-9BF3-752442B59B39}" srcId="{EB7B3F2D-AC56-42D3-810B-23B63B902ED7}" destId="{953B76EE-D689-4965-AA3A-C7699CBA76DB}" srcOrd="0" destOrd="0" parTransId="{A133EA5B-A3C9-4D86-A60D-BC6226240E6E}" sibTransId="{72351B30-696A-46EE-B280-2997BD3A9CE2}"/>
    <dgm:cxn modelId="{25AEEAEF-15CA-47F1-90BD-96CF2DC9D132}" type="presOf" srcId="{58072688-58EC-4557-BEC9-FCC7BA317B9D}" destId="{52D52E45-5B72-46B0-BC1B-9C4BFACA48F1}" srcOrd="0" destOrd="0" presId="urn:microsoft.com/office/officeart/2018/5/layout/CenteredIconLabelDescriptionList"/>
    <dgm:cxn modelId="{503478F8-BBF7-4064-893F-156C33ADC12C}" type="presOf" srcId="{8204C3E0-ED69-406B-B1E7-73B90108660F}" destId="{126DC0E4-DCE3-4230-8D58-A78AD225D5FE}" srcOrd="0" destOrd="0" presId="urn:microsoft.com/office/officeart/2018/5/layout/CenteredIconLabelDescriptionList"/>
    <dgm:cxn modelId="{C4A3BFA3-B49C-444E-B920-C3845EBB06FF}" type="presParOf" srcId="{52D52E45-5B72-46B0-BC1B-9C4BFACA48F1}" destId="{E95089EC-C72D-48FF-90DE-A26B0D380034}" srcOrd="0" destOrd="0" presId="urn:microsoft.com/office/officeart/2018/5/layout/CenteredIconLabelDescriptionList"/>
    <dgm:cxn modelId="{042E01FC-BB8B-4C74-8B82-32101B5F3936}" type="presParOf" srcId="{E95089EC-C72D-48FF-90DE-A26B0D380034}" destId="{F466AB15-0E71-41DA-8B44-574DE5ACBA5D}" srcOrd="0" destOrd="0" presId="urn:microsoft.com/office/officeart/2018/5/layout/CenteredIconLabelDescriptionList"/>
    <dgm:cxn modelId="{60341905-6ECB-4259-B8CA-729596F66A1D}" type="presParOf" srcId="{E95089EC-C72D-48FF-90DE-A26B0D380034}" destId="{FF839E75-888E-456C-BBA3-0FEB04EE0D9A}" srcOrd="1" destOrd="0" presId="urn:microsoft.com/office/officeart/2018/5/layout/CenteredIconLabelDescriptionList"/>
    <dgm:cxn modelId="{72AB8790-6439-4621-B668-A8AD216AE195}" type="presParOf" srcId="{E95089EC-C72D-48FF-90DE-A26B0D380034}" destId="{BCDB009C-BC38-486D-97A0-FAAE0637D66F}" srcOrd="2" destOrd="0" presId="urn:microsoft.com/office/officeart/2018/5/layout/CenteredIconLabelDescriptionList"/>
    <dgm:cxn modelId="{40B5C19A-5789-483D-ACF9-A4BCC1BEE9B5}" type="presParOf" srcId="{E95089EC-C72D-48FF-90DE-A26B0D380034}" destId="{EB958E37-02BA-45A9-B970-AE483091D8E7}" srcOrd="3" destOrd="0" presId="urn:microsoft.com/office/officeart/2018/5/layout/CenteredIconLabelDescriptionList"/>
    <dgm:cxn modelId="{56B2CCC7-7A61-4493-B46B-259AAB825914}" type="presParOf" srcId="{E95089EC-C72D-48FF-90DE-A26B0D380034}" destId="{6463C67E-A969-4F4B-BE19-D8967FE2B608}" srcOrd="4" destOrd="0" presId="urn:microsoft.com/office/officeart/2018/5/layout/CenteredIconLabelDescriptionList"/>
    <dgm:cxn modelId="{CDEA6C5B-496A-4A3D-82B4-393326FC0E86}" type="presParOf" srcId="{52D52E45-5B72-46B0-BC1B-9C4BFACA48F1}" destId="{B0300BB4-4EC9-4590-8343-F9F8B9739ED5}" srcOrd="1" destOrd="0" presId="urn:microsoft.com/office/officeart/2018/5/layout/CenteredIconLabelDescriptionList"/>
    <dgm:cxn modelId="{40D0DCC1-146D-403A-9552-A3A7C0AA4A84}" type="presParOf" srcId="{52D52E45-5B72-46B0-BC1B-9C4BFACA48F1}" destId="{EC6C420A-0CC5-4FB8-BECA-FB42DDA25E4A}" srcOrd="2" destOrd="0" presId="urn:microsoft.com/office/officeart/2018/5/layout/CenteredIconLabelDescriptionList"/>
    <dgm:cxn modelId="{4C710848-52A9-4038-AFE4-15CA49EFC459}" type="presParOf" srcId="{EC6C420A-0CC5-4FB8-BECA-FB42DDA25E4A}" destId="{BFDB2916-BC00-4BCD-9C03-8D8A361D77AA}" srcOrd="0" destOrd="0" presId="urn:microsoft.com/office/officeart/2018/5/layout/CenteredIconLabelDescriptionList"/>
    <dgm:cxn modelId="{3036FA07-A94C-4BE9-B5F9-14C42963B277}" type="presParOf" srcId="{EC6C420A-0CC5-4FB8-BECA-FB42DDA25E4A}" destId="{65A47309-F3BE-453D-8144-3FBEC38E12B1}" srcOrd="1" destOrd="0" presId="urn:microsoft.com/office/officeart/2018/5/layout/CenteredIconLabelDescriptionList"/>
    <dgm:cxn modelId="{F48CB33F-87D0-4AE3-9B94-4C7465981A71}" type="presParOf" srcId="{EC6C420A-0CC5-4FB8-BECA-FB42DDA25E4A}" destId="{0E2C6F82-2FB1-4830-BC6A-FCF25D7A463F}" srcOrd="2" destOrd="0" presId="urn:microsoft.com/office/officeart/2018/5/layout/CenteredIconLabelDescriptionList"/>
    <dgm:cxn modelId="{FA962CDC-4555-4A0B-8D65-36F10F1D856D}" type="presParOf" srcId="{EC6C420A-0CC5-4FB8-BECA-FB42DDA25E4A}" destId="{64394B45-B079-48F3-AA6A-CCE34CFE2380}" srcOrd="3" destOrd="0" presId="urn:microsoft.com/office/officeart/2018/5/layout/CenteredIconLabelDescriptionList"/>
    <dgm:cxn modelId="{E81BBE7E-296A-4ABF-B2DE-2BDC1FDA593D}" type="presParOf" srcId="{EC6C420A-0CC5-4FB8-BECA-FB42DDA25E4A}" destId="{2E6CA071-E24A-497E-BF41-6038FAF2E4CA}" srcOrd="4" destOrd="0" presId="urn:microsoft.com/office/officeart/2018/5/layout/CenteredIconLabelDescriptionList"/>
    <dgm:cxn modelId="{B478B90E-44A9-4D1D-88F6-DEB85A135EA6}" type="presParOf" srcId="{52D52E45-5B72-46B0-BC1B-9C4BFACA48F1}" destId="{98213FC4-B020-45E8-9D88-E29A49857029}" srcOrd="3" destOrd="0" presId="urn:microsoft.com/office/officeart/2018/5/layout/CenteredIconLabelDescriptionList"/>
    <dgm:cxn modelId="{C2943550-D915-43DF-A7F9-F725F77C8CBD}" type="presParOf" srcId="{52D52E45-5B72-46B0-BC1B-9C4BFACA48F1}" destId="{4B285AFD-7133-45E0-BD06-AB8CD2FAAFFA}" srcOrd="4" destOrd="0" presId="urn:microsoft.com/office/officeart/2018/5/layout/CenteredIconLabelDescriptionList"/>
    <dgm:cxn modelId="{CAA310F3-B7E6-425D-B138-3E59FEA0AD88}" type="presParOf" srcId="{4B285AFD-7133-45E0-BD06-AB8CD2FAAFFA}" destId="{27DF4805-F99D-41BB-94CF-BA8E5D683DA4}" srcOrd="0" destOrd="0" presId="urn:microsoft.com/office/officeart/2018/5/layout/CenteredIconLabelDescriptionList"/>
    <dgm:cxn modelId="{27EBB30E-CF85-455D-94FF-CBB64E7D938B}" type="presParOf" srcId="{4B285AFD-7133-45E0-BD06-AB8CD2FAAFFA}" destId="{2E69697C-A2FF-4033-A3C1-0924CA29892C}" srcOrd="1" destOrd="0" presId="urn:microsoft.com/office/officeart/2018/5/layout/CenteredIconLabelDescriptionList"/>
    <dgm:cxn modelId="{91089789-1357-43BC-A815-657A6ACD57FA}" type="presParOf" srcId="{4B285AFD-7133-45E0-BD06-AB8CD2FAAFFA}" destId="{126DC0E4-DCE3-4230-8D58-A78AD225D5FE}" srcOrd="2" destOrd="0" presId="urn:microsoft.com/office/officeart/2018/5/layout/CenteredIconLabelDescriptionList"/>
    <dgm:cxn modelId="{BEDE191B-F786-4B12-B532-9588D3366771}" type="presParOf" srcId="{4B285AFD-7133-45E0-BD06-AB8CD2FAAFFA}" destId="{C15A53D3-445F-4F4D-BF1D-7EE1E60516E8}" srcOrd="3" destOrd="0" presId="urn:microsoft.com/office/officeart/2018/5/layout/CenteredIconLabelDescriptionList"/>
    <dgm:cxn modelId="{84B38239-2373-4678-B8E8-845099E5447C}" type="presParOf" srcId="{4B285AFD-7133-45E0-BD06-AB8CD2FAAFFA}" destId="{A8A6B1FF-844F-4CF1-86C9-463C17A2722E}" srcOrd="4" destOrd="0" presId="urn:microsoft.com/office/officeart/2018/5/layout/CenteredIconLabelDescriptionList"/>
    <dgm:cxn modelId="{0CCC25F8-BB38-4E43-9D33-94A4DBDC68A9}" type="presParOf" srcId="{52D52E45-5B72-46B0-BC1B-9C4BFACA48F1}" destId="{CC8AAC7C-FC19-4665-9D22-CA8933CABFBE}" srcOrd="5" destOrd="0" presId="urn:microsoft.com/office/officeart/2018/5/layout/CenteredIconLabelDescriptionList"/>
    <dgm:cxn modelId="{86B6CBA9-DF1C-4510-AF1B-A1EAC4664939}" type="presParOf" srcId="{52D52E45-5B72-46B0-BC1B-9C4BFACA48F1}" destId="{1BFED3F0-56AA-4B37-A490-1406312C3136}" srcOrd="6" destOrd="0" presId="urn:microsoft.com/office/officeart/2018/5/layout/CenteredIconLabelDescriptionList"/>
    <dgm:cxn modelId="{DD9C0CF8-1F26-4621-B642-2D19B5B9A0FB}" type="presParOf" srcId="{1BFED3F0-56AA-4B37-A490-1406312C3136}" destId="{744B6700-732E-4D19-AE70-01B471459FD8}" srcOrd="0" destOrd="0" presId="urn:microsoft.com/office/officeart/2018/5/layout/CenteredIconLabelDescriptionList"/>
    <dgm:cxn modelId="{F3666540-51D7-46C7-B894-7AC36949E365}" type="presParOf" srcId="{1BFED3F0-56AA-4B37-A490-1406312C3136}" destId="{7A9BCEBD-C54B-47FF-9A8F-C9EDA8F5339A}" srcOrd="1" destOrd="0" presId="urn:microsoft.com/office/officeart/2018/5/layout/CenteredIconLabelDescriptionList"/>
    <dgm:cxn modelId="{9BA0F40C-C2B5-46B8-AA18-5BEF5104FE04}" type="presParOf" srcId="{1BFED3F0-56AA-4B37-A490-1406312C3136}" destId="{81E10088-F0A0-432F-8DB3-470B86ABBBA9}" srcOrd="2" destOrd="0" presId="urn:microsoft.com/office/officeart/2018/5/layout/CenteredIconLabelDescriptionList"/>
    <dgm:cxn modelId="{53F906B4-9326-43BB-9845-2F10F1A5BC48}" type="presParOf" srcId="{1BFED3F0-56AA-4B37-A490-1406312C3136}" destId="{729F0153-192D-491A-80C2-91C419C0BBEE}" srcOrd="3" destOrd="0" presId="urn:microsoft.com/office/officeart/2018/5/layout/CenteredIconLabelDescriptionList"/>
    <dgm:cxn modelId="{4C186C8E-7DE6-47AF-B400-0DED0CB950D0}" type="presParOf" srcId="{1BFED3F0-56AA-4B37-A490-1406312C3136}" destId="{20E45F54-E90B-4BC0-81C3-A0C68B95B22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19F10D-327F-41BB-8BB4-BFD969BA91B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87E54C-6265-4E61-AD0D-24E2ECF28604}">
      <dgm:prSet/>
      <dgm:spPr/>
      <dgm:t>
        <a:bodyPr/>
        <a:lstStyle/>
        <a:p>
          <a:pPr>
            <a:defRPr b="1"/>
          </a:pPr>
          <a:r>
            <a:rPr lang="en-US" b="1" dirty="0"/>
            <a:t>Strengths (Internal Positives)</a:t>
          </a:r>
          <a:endParaRPr lang="en-US" dirty="0"/>
        </a:p>
      </dgm:t>
    </dgm:pt>
    <dgm:pt modelId="{8EDE04FA-75A4-40FA-B202-199638189262}" type="parTrans" cxnId="{C19E7A77-1427-4640-8AC5-14F805FBC5BB}">
      <dgm:prSet/>
      <dgm:spPr/>
      <dgm:t>
        <a:bodyPr/>
        <a:lstStyle/>
        <a:p>
          <a:endParaRPr lang="en-US"/>
        </a:p>
      </dgm:t>
    </dgm:pt>
    <dgm:pt modelId="{9E86209D-5360-4A85-8E00-7F2A6DD2522E}" type="sibTrans" cxnId="{C19E7A77-1427-4640-8AC5-14F805FBC5BB}">
      <dgm:prSet/>
      <dgm:spPr/>
      <dgm:t>
        <a:bodyPr/>
        <a:lstStyle/>
        <a:p>
          <a:endParaRPr lang="en-US"/>
        </a:p>
      </dgm:t>
    </dgm:pt>
    <dgm:pt modelId="{C747041D-5784-494E-8CE4-DA274F7BB48F}">
      <dgm:prSet/>
      <dgm:spPr/>
      <dgm:t>
        <a:bodyPr/>
        <a:lstStyle/>
        <a:p>
          <a:r>
            <a:rPr lang="en-US" b="1" dirty="0"/>
            <a:t>SLA Compliance:</a:t>
          </a:r>
          <a:r>
            <a:rPr lang="en-US" dirty="0"/>
            <a:t> Client satisfaction is strongly driven by meeting contractual Service Level Agreements (SLAs), especially resolution speed.</a:t>
          </a:r>
        </a:p>
      </dgm:t>
    </dgm:pt>
    <dgm:pt modelId="{152AE923-8355-4B30-8BA2-B9AEC244A7DD}" type="parTrans" cxnId="{1D6E730A-8CAE-4CB3-AD51-3041AD27C456}">
      <dgm:prSet/>
      <dgm:spPr/>
      <dgm:t>
        <a:bodyPr/>
        <a:lstStyle/>
        <a:p>
          <a:endParaRPr lang="en-US"/>
        </a:p>
      </dgm:t>
    </dgm:pt>
    <dgm:pt modelId="{66705273-CED5-4634-8DBC-73121CE98F0B}" type="sibTrans" cxnId="{1D6E730A-8CAE-4CB3-AD51-3041AD27C456}">
      <dgm:prSet/>
      <dgm:spPr/>
      <dgm:t>
        <a:bodyPr/>
        <a:lstStyle/>
        <a:p>
          <a:endParaRPr lang="en-US"/>
        </a:p>
      </dgm:t>
    </dgm:pt>
    <dgm:pt modelId="{3DD56A34-A870-4F82-9BF4-6A063340AC0C}">
      <dgm:prSet/>
      <dgm:spPr/>
      <dgm:t>
        <a:bodyPr/>
        <a:lstStyle/>
        <a:p>
          <a:r>
            <a:rPr lang="en-US" b="1"/>
            <a:t>Process Consistency:</a:t>
          </a:r>
          <a:r>
            <a:rPr lang="en-US"/>
            <a:t> Stable, documented processes are crucial for global "follow the sun" support.</a:t>
          </a:r>
        </a:p>
      </dgm:t>
    </dgm:pt>
    <dgm:pt modelId="{7AE374A7-E6AE-4BBE-ADFE-6374438E8545}" type="parTrans" cxnId="{4DE36B86-3E55-4308-B9BA-93B1C706A4D0}">
      <dgm:prSet/>
      <dgm:spPr/>
      <dgm:t>
        <a:bodyPr/>
        <a:lstStyle/>
        <a:p>
          <a:endParaRPr lang="en-US"/>
        </a:p>
      </dgm:t>
    </dgm:pt>
    <dgm:pt modelId="{2DF092CB-A076-4BF5-978C-2ED8EBDFFB6F}" type="sibTrans" cxnId="{4DE36B86-3E55-4308-B9BA-93B1C706A4D0}">
      <dgm:prSet/>
      <dgm:spPr/>
      <dgm:t>
        <a:bodyPr/>
        <a:lstStyle/>
        <a:p>
          <a:endParaRPr lang="en-US"/>
        </a:p>
      </dgm:t>
    </dgm:pt>
    <dgm:pt modelId="{5E2E67DE-4043-451D-89F7-9C611FAFCE21}">
      <dgm:prSet/>
      <dgm:spPr/>
      <dgm:t>
        <a:bodyPr/>
        <a:lstStyle/>
        <a:p>
          <a:pPr>
            <a:defRPr b="1"/>
          </a:pPr>
          <a:r>
            <a:rPr lang="en-US" b="1"/>
            <a:t>Weaknesses (Internal Negatives)</a:t>
          </a:r>
          <a:endParaRPr lang="en-US"/>
        </a:p>
      </dgm:t>
    </dgm:pt>
    <dgm:pt modelId="{6F93094B-8A0A-4AC8-9741-DDBA3AD2C9A1}" type="parTrans" cxnId="{B65D6846-7965-4BA7-8065-2E939A38A6E3}">
      <dgm:prSet/>
      <dgm:spPr/>
      <dgm:t>
        <a:bodyPr/>
        <a:lstStyle/>
        <a:p>
          <a:endParaRPr lang="en-US"/>
        </a:p>
      </dgm:t>
    </dgm:pt>
    <dgm:pt modelId="{10FFF3BE-2426-4100-910C-C4C0551FA083}" type="sibTrans" cxnId="{B65D6846-7965-4BA7-8065-2E939A38A6E3}">
      <dgm:prSet/>
      <dgm:spPr/>
      <dgm:t>
        <a:bodyPr/>
        <a:lstStyle/>
        <a:p>
          <a:endParaRPr lang="en-US"/>
        </a:p>
      </dgm:t>
    </dgm:pt>
    <dgm:pt modelId="{5E95A3D5-BBD8-4FFC-9EEF-B5D869E9FA9D}">
      <dgm:prSet/>
      <dgm:spPr/>
      <dgm:t>
        <a:bodyPr/>
        <a:lstStyle/>
        <a:p>
          <a:r>
            <a:rPr lang="en-US" b="1"/>
            <a:t>Metric Misalignment:</a:t>
          </a:r>
          <a:r>
            <a:rPr lang="en-US"/>
            <a:t> A critical weakness. L1 agents, to meet personal targets, often </a:t>
          </a:r>
          <a:r>
            <a:rPr lang="en-US" b="1"/>
            <a:t>prematurely close tickets</a:t>
          </a:r>
          <a:r>
            <a:rPr lang="en-US"/>
            <a:t> that are not truly resolved.</a:t>
          </a:r>
        </a:p>
      </dgm:t>
    </dgm:pt>
    <dgm:pt modelId="{06B9FF9B-8DAE-43A5-9710-9E1D86C6505F}" type="parTrans" cxnId="{E706D921-61CF-419E-847E-74F1393B5561}">
      <dgm:prSet/>
      <dgm:spPr/>
      <dgm:t>
        <a:bodyPr/>
        <a:lstStyle/>
        <a:p>
          <a:endParaRPr lang="en-US"/>
        </a:p>
      </dgm:t>
    </dgm:pt>
    <dgm:pt modelId="{DB0C8C68-631D-40CF-B17B-DAF81B1C3FFE}" type="sibTrans" cxnId="{E706D921-61CF-419E-847E-74F1393B5561}">
      <dgm:prSet/>
      <dgm:spPr/>
      <dgm:t>
        <a:bodyPr/>
        <a:lstStyle/>
        <a:p>
          <a:endParaRPr lang="en-US"/>
        </a:p>
      </dgm:t>
    </dgm:pt>
    <dgm:pt modelId="{32BC8E15-7E46-43D2-B855-01079422703A}">
      <dgm:prSet/>
      <dgm:spPr/>
      <dgm:t>
        <a:bodyPr/>
        <a:lstStyle/>
        <a:p>
          <a:r>
            <a:rPr lang="en-US" b="1" dirty="0"/>
            <a:t>Communication Gap:</a:t>
          </a:r>
          <a:r>
            <a:rPr lang="en-US" dirty="0"/>
            <a:t> Clients can be dissatisfied </a:t>
          </a:r>
          <a:r>
            <a:rPr lang="en-US" i="1" dirty="0"/>
            <a:t>even when SLAs are met</a:t>
          </a:r>
          <a:r>
            <a:rPr lang="en-US" dirty="0"/>
            <a:t>. This is often a communication gap within the client's own organization.</a:t>
          </a:r>
        </a:p>
      </dgm:t>
    </dgm:pt>
    <dgm:pt modelId="{EB6C60BF-7A77-4CEE-A50C-D2BE45494068}" type="parTrans" cxnId="{1D8F3F78-38A8-48D9-A97B-BCB8E3E84E60}">
      <dgm:prSet/>
      <dgm:spPr/>
      <dgm:t>
        <a:bodyPr/>
        <a:lstStyle/>
        <a:p>
          <a:endParaRPr lang="en-US"/>
        </a:p>
      </dgm:t>
    </dgm:pt>
    <dgm:pt modelId="{23B61B7F-9090-40CF-9280-65393B2533CC}" type="sibTrans" cxnId="{1D8F3F78-38A8-48D9-A97B-BCB8E3E84E60}">
      <dgm:prSet/>
      <dgm:spPr/>
      <dgm:t>
        <a:bodyPr/>
        <a:lstStyle/>
        <a:p>
          <a:endParaRPr lang="en-US"/>
        </a:p>
      </dgm:t>
    </dgm:pt>
    <dgm:pt modelId="{06604CF5-755C-4DC2-9B27-6D54F58638E6}" type="pres">
      <dgm:prSet presAssocID="{0419F10D-327F-41BB-8BB4-BFD969BA91B4}" presName="root" presStyleCnt="0">
        <dgm:presLayoutVars>
          <dgm:dir/>
          <dgm:resizeHandles val="exact"/>
        </dgm:presLayoutVars>
      </dgm:prSet>
      <dgm:spPr/>
    </dgm:pt>
    <dgm:pt modelId="{FAC57398-F227-4013-93B2-B4C2B149AED6}" type="pres">
      <dgm:prSet presAssocID="{B387E54C-6265-4E61-AD0D-24E2ECF28604}" presName="compNode" presStyleCnt="0"/>
      <dgm:spPr/>
    </dgm:pt>
    <dgm:pt modelId="{8A3DDCE8-0435-47BF-B4DA-F52D4010EAF7}" type="pres">
      <dgm:prSet presAssocID="{B387E54C-6265-4E61-AD0D-24E2ECF2860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inning Face with No Fill"/>
        </a:ext>
      </dgm:extLst>
    </dgm:pt>
    <dgm:pt modelId="{E208C747-55F3-4231-8F31-C7C4EE25BA1A}" type="pres">
      <dgm:prSet presAssocID="{B387E54C-6265-4E61-AD0D-24E2ECF28604}" presName="iconSpace" presStyleCnt="0"/>
      <dgm:spPr/>
    </dgm:pt>
    <dgm:pt modelId="{4E6FD684-BF5E-4205-B72C-3BF560F95A8E}" type="pres">
      <dgm:prSet presAssocID="{B387E54C-6265-4E61-AD0D-24E2ECF28604}" presName="parTx" presStyleLbl="revTx" presStyleIdx="0" presStyleCnt="4">
        <dgm:presLayoutVars>
          <dgm:chMax val="0"/>
          <dgm:chPref val="0"/>
        </dgm:presLayoutVars>
      </dgm:prSet>
      <dgm:spPr/>
    </dgm:pt>
    <dgm:pt modelId="{1C628958-A14D-4867-8EB1-7C1CC255005A}" type="pres">
      <dgm:prSet presAssocID="{B387E54C-6265-4E61-AD0D-24E2ECF28604}" presName="txSpace" presStyleCnt="0"/>
      <dgm:spPr/>
    </dgm:pt>
    <dgm:pt modelId="{8D365F85-529D-478B-A553-E5B0E296241B}" type="pres">
      <dgm:prSet presAssocID="{B387E54C-6265-4E61-AD0D-24E2ECF28604}" presName="desTx" presStyleLbl="revTx" presStyleIdx="1" presStyleCnt="4">
        <dgm:presLayoutVars/>
      </dgm:prSet>
      <dgm:spPr/>
    </dgm:pt>
    <dgm:pt modelId="{7D47F6DC-42CC-46D0-BAA1-3519F431EB75}" type="pres">
      <dgm:prSet presAssocID="{9E86209D-5360-4A85-8E00-7F2A6DD2522E}" presName="sibTrans" presStyleCnt="0"/>
      <dgm:spPr/>
    </dgm:pt>
    <dgm:pt modelId="{58208FF2-2E12-4CBC-9492-350920782368}" type="pres">
      <dgm:prSet presAssocID="{5E2E67DE-4043-451D-89F7-9C611FAFCE21}" presName="compNode" presStyleCnt="0"/>
      <dgm:spPr/>
    </dgm:pt>
    <dgm:pt modelId="{D849FE42-C111-4B2C-9C05-C4A10A0FD24B}" type="pres">
      <dgm:prSet presAssocID="{5E2E67DE-4043-451D-89F7-9C611FAFCE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rning"/>
        </a:ext>
      </dgm:extLst>
    </dgm:pt>
    <dgm:pt modelId="{EA7A4F3A-12D1-4378-BF68-E3E6B6BA545C}" type="pres">
      <dgm:prSet presAssocID="{5E2E67DE-4043-451D-89F7-9C611FAFCE21}" presName="iconSpace" presStyleCnt="0"/>
      <dgm:spPr/>
    </dgm:pt>
    <dgm:pt modelId="{B5BC997D-D8C1-4EFE-B359-24BEE806F051}" type="pres">
      <dgm:prSet presAssocID="{5E2E67DE-4043-451D-89F7-9C611FAFCE21}" presName="parTx" presStyleLbl="revTx" presStyleIdx="2" presStyleCnt="4">
        <dgm:presLayoutVars>
          <dgm:chMax val="0"/>
          <dgm:chPref val="0"/>
        </dgm:presLayoutVars>
      </dgm:prSet>
      <dgm:spPr/>
    </dgm:pt>
    <dgm:pt modelId="{43DC86D6-DCAD-4506-96B1-6DBFDEF7ED54}" type="pres">
      <dgm:prSet presAssocID="{5E2E67DE-4043-451D-89F7-9C611FAFCE21}" presName="txSpace" presStyleCnt="0"/>
      <dgm:spPr/>
    </dgm:pt>
    <dgm:pt modelId="{2B03C749-B9A5-43EA-8D70-6808F2194D16}" type="pres">
      <dgm:prSet presAssocID="{5E2E67DE-4043-451D-89F7-9C611FAFCE21}" presName="desTx" presStyleLbl="revTx" presStyleIdx="3" presStyleCnt="4">
        <dgm:presLayoutVars/>
      </dgm:prSet>
      <dgm:spPr/>
    </dgm:pt>
  </dgm:ptLst>
  <dgm:cxnLst>
    <dgm:cxn modelId="{1D6E730A-8CAE-4CB3-AD51-3041AD27C456}" srcId="{B387E54C-6265-4E61-AD0D-24E2ECF28604}" destId="{C747041D-5784-494E-8CE4-DA274F7BB48F}" srcOrd="0" destOrd="0" parTransId="{152AE923-8355-4B30-8BA2-B9AEC244A7DD}" sibTransId="{66705273-CED5-4634-8DBC-73121CE98F0B}"/>
    <dgm:cxn modelId="{0C6D4F17-820A-4898-B7A7-FD7570DBE92C}" type="presOf" srcId="{0419F10D-327F-41BB-8BB4-BFD969BA91B4}" destId="{06604CF5-755C-4DC2-9B27-6D54F58638E6}" srcOrd="0" destOrd="0" presId="urn:microsoft.com/office/officeart/2018/5/layout/CenteredIconLabelDescriptionList"/>
    <dgm:cxn modelId="{E706D921-61CF-419E-847E-74F1393B5561}" srcId="{5E2E67DE-4043-451D-89F7-9C611FAFCE21}" destId="{5E95A3D5-BBD8-4FFC-9EEF-B5D869E9FA9D}" srcOrd="0" destOrd="0" parTransId="{06B9FF9B-8DAE-43A5-9710-9E1D86C6505F}" sibTransId="{DB0C8C68-631D-40CF-B17B-DAF81B1C3FFE}"/>
    <dgm:cxn modelId="{DF21C438-D5A3-4D14-8201-99154199DFC8}" type="presOf" srcId="{5E2E67DE-4043-451D-89F7-9C611FAFCE21}" destId="{B5BC997D-D8C1-4EFE-B359-24BEE806F051}" srcOrd="0" destOrd="0" presId="urn:microsoft.com/office/officeart/2018/5/layout/CenteredIconLabelDescriptionList"/>
    <dgm:cxn modelId="{B65D6846-7965-4BA7-8065-2E939A38A6E3}" srcId="{0419F10D-327F-41BB-8BB4-BFD969BA91B4}" destId="{5E2E67DE-4043-451D-89F7-9C611FAFCE21}" srcOrd="1" destOrd="0" parTransId="{6F93094B-8A0A-4AC8-9741-DDBA3AD2C9A1}" sibTransId="{10FFF3BE-2426-4100-910C-C4C0551FA083}"/>
    <dgm:cxn modelId="{C19E7A77-1427-4640-8AC5-14F805FBC5BB}" srcId="{0419F10D-327F-41BB-8BB4-BFD969BA91B4}" destId="{B387E54C-6265-4E61-AD0D-24E2ECF28604}" srcOrd="0" destOrd="0" parTransId="{8EDE04FA-75A4-40FA-B202-199638189262}" sibTransId="{9E86209D-5360-4A85-8E00-7F2A6DD2522E}"/>
    <dgm:cxn modelId="{1D8F3F78-38A8-48D9-A97B-BCB8E3E84E60}" srcId="{5E2E67DE-4043-451D-89F7-9C611FAFCE21}" destId="{32BC8E15-7E46-43D2-B855-01079422703A}" srcOrd="1" destOrd="0" parTransId="{EB6C60BF-7A77-4CEE-A50C-D2BE45494068}" sibTransId="{23B61B7F-9090-40CF-9280-65393B2533CC}"/>
    <dgm:cxn modelId="{4D50077A-7EEE-401D-95D5-9DDF70A7A09B}" type="presOf" srcId="{C747041D-5784-494E-8CE4-DA274F7BB48F}" destId="{8D365F85-529D-478B-A553-E5B0E296241B}" srcOrd="0" destOrd="0" presId="urn:microsoft.com/office/officeart/2018/5/layout/CenteredIconLabelDescriptionList"/>
    <dgm:cxn modelId="{4DE36B86-3E55-4308-B9BA-93B1C706A4D0}" srcId="{B387E54C-6265-4E61-AD0D-24E2ECF28604}" destId="{3DD56A34-A870-4F82-9BF4-6A063340AC0C}" srcOrd="1" destOrd="0" parTransId="{7AE374A7-E6AE-4BBE-ADFE-6374438E8545}" sibTransId="{2DF092CB-A076-4BF5-978C-2ED8EBDFFB6F}"/>
    <dgm:cxn modelId="{E4CBE58F-A8EC-4FF7-A912-7CF282CDE138}" type="presOf" srcId="{32BC8E15-7E46-43D2-B855-01079422703A}" destId="{2B03C749-B9A5-43EA-8D70-6808F2194D16}" srcOrd="0" destOrd="1" presId="urn:microsoft.com/office/officeart/2018/5/layout/CenteredIconLabelDescriptionList"/>
    <dgm:cxn modelId="{D3AB0992-F11D-4256-AFCC-F7E1E3A74B67}" type="presOf" srcId="{3DD56A34-A870-4F82-9BF4-6A063340AC0C}" destId="{8D365F85-529D-478B-A553-E5B0E296241B}" srcOrd="0" destOrd="1" presId="urn:microsoft.com/office/officeart/2018/5/layout/CenteredIconLabelDescriptionList"/>
    <dgm:cxn modelId="{F72A16BF-BD72-4B0E-9E32-53E6AE0EEFD6}" type="presOf" srcId="{5E95A3D5-BBD8-4FFC-9EEF-B5D869E9FA9D}" destId="{2B03C749-B9A5-43EA-8D70-6808F2194D16}" srcOrd="0" destOrd="0" presId="urn:microsoft.com/office/officeart/2018/5/layout/CenteredIconLabelDescriptionList"/>
    <dgm:cxn modelId="{EDEDA8C9-4781-47CE-AE90-CE8A6222D853}" type="presOf" srcId="{B387E54C-6265-4E61-AD0D-24E2ECF28604}" destId="{4E6FD684-BF5E-4205-B72C-3BF560F95A8E}" srcOrd="0" destOrd="0" presId="urn:microsoft.com/office/officeart/2018/5/layout/CenteredIconLabelDescriptionList"/>
    <dgm:cxn modelId="{CE39F899-0245-454D-AED2-42A473813EED}" type="presParOf" srcId="{06604CF5-755C-4DC2-9B27-6D54F58638E6}" destId="{FAC57398-F227-4013-93B2-B4C2B149AED6}" srcOrd="0" destOrd="0" presId="urn:microsoft.com/office/officeart/2018/5/layout/CenteredIconLabelDescriptionList"/>
    <dgm:cxn modelId="{FBB9910C-4A32-4F6E-BD99-B2686058E67D}" type="presParOf" srcId="{FAC57398-F227-4013-93B2-B4C2B149AED6}" destId="{8A3DDCE8-0435-47BF-B4DA-F52D4010EAF7}" srcOrd="0" destOrd="0" presId="urn:microsoft.com/office/officeart/2018/5/layout/CenteredIconLabelDescriptionList"/>
    <dgm:cxn modelId="{ACFB939C-D76A-48A7-A3EE-586E0DE900BE}" type="presParOf" srcId="{FAC57398-F227-4013-93B2-B4C2B149AED6}" destId="{E208C747-55F3-4231-8F31-C7C4EE25BA1A}" srcOrd="1" destOrd="0" presId="urn:microsoft.com/office/officeart/2018/5/layout/CenteredIconLabelDescriptionList"/>
    <dgm:cxn modelId="{96C6F546-60BE-421E-8953-0D1FBDBF9FE0}" type="presParOf" srcId="{FAC57398-F227-4013-93B2-B4C2B149AED6}" destId="{4E6FD684-BF5E-4205-B72C-3BF560F95A8E}" srcOrd="2" destOrd="0" presId="urn:microsoft.com/office/officeart/2018/5/layout/CenteredIconLabelDescriptionList"/>
    <dgm:cxn modelId="{00A5EF26-5137-411D-9132-12548FE8FEE1}" type="presParOf" srcId="{FAC57398-F227-4013-93B2-B4C2B149AED6}" destId="{1C628958-A14D-4867-8EB1-7C1CC255005A}" srcOrd="3" destOrd="0" presId="urn:microsoft.com/office/officeart/2018/5/layout/CenteredIconLabelDescriptionList"/>
    <dgm:cxn modelId="{5ABC400A-313E-479D-A688-0647DAB4DF09}" type="presParOf" srcId="{FAC57398-F227-4013-93B2-B4C2B149AED6}" destId="{8D365F85-529D-478B-A553-E5B0E296241B}" srcOrd="4" destOrd="0" presId="urn:microsoft.com/office/officeart/2018/5/layout/CenteredIconLabelDescriptionList"/>
    <dgm:cxn modelId="{9C42766F-4524-49BE-8084-174C630056E1}" type="presParOf" srcId="{06604CF5-755C-4DC2-9B27-6D54F58638E6}" destId="{7D47F6DC-42CC-46D0-BAA1-3519F431EB75}" srcOrd="1" destOrd="0" presId="urn:microsoft.com/office/officeart/2018/5/layout/CenteredIconLabelDescriptionList"/>
    <dgm:cxn modelId="{B7331727-C177-40E8-AF40-E0F41197DD8D}" type="presParOf" srcId="{06604CF5-755C-4DC2-9B27-6D54F58638E6}" destId="{58208FF2-2E12-4CBC-9492-350920782368}" srcOrd="2" destOrd="0" presId="urn:microsoft.com/office/officeart/2018/5/layout/CenteredIconLabelDescriptionList"/>
    <dgm:cxn modelId="{5FC5A7B0-F282-402C-8ECE-A9CB24FB82D4}" type="presParOf" srcId="{58208FF2-2E12-4CBC-9492-350920782368}" destId="{D849FE42-C111-4B2C-9C05-C4A10A0FD24B}" srcOrd="0" destOrd="0" presId="urn:microsoft.com/office/officeart/2018/5/layout/CenteredIconLabelDescriptionList"/>
    <dgm:cxn modelId="{2EA3453D-2DAB-444A-B755-A4048CEC14FF}" type="presParOf" srcId="{58208FF2-2E12-4CBC-9492-350920782368}" destId="{EA7A4F3A-12D1-4378-BF68-E3E6B6BA545C}" srcOrd="1" destOrd="0" presId="urn:microsoft.com/office/officeart/2018/5/layout/CenteredIconLabelDescriptionList"/>
    <dgm:cxn modelId="{08677627-A873-4EC1-98A8-A62F0F7B1CA1}" type="presParOf" srcId="{58208FF2-2E12-4CBC-9492-350920782368}" destId="{B5BC997D-D8C1-4EFE-B359-24BEE806F051}" srcOrd="2" destOrd="0" presId="urn:microsoft.com/office/officeart/2018/5/layout/CenteredIconLabelDescriptionList"/>
    <dgm:cxn modelId="{9C410F69-65CA-4FA0-84EE-1B9762E30ADC}" type="presParOf" srcId="{58208FF2-2E12-4CBC-9492-350920782368}" destId="{43DC86D6-DCAD-4506-96B1-6DBFDEF7ED54}" srcOrd="3" destOrd="0" presId="urn:microsoft.com/office/officeart/2018/5/layout/CenteredIconLabelDescriptionList"/>
    <dgm:cxn modelId="{E6DE02F2-FCD2-48CB-B103-D18B3B4F64D3}" type="presParOf" srcId="{58208FF2-2E12-4CBC-9492-350920782368}" destId="{2B03C749-B9A5-43EA-8D70-6808F2194D1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684F8E-5ED2-4BBA-8FE7-B2FD6CDE315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709D48-3288-4CC0-B889-173C6FD86F17}">
      <dgm:prSet/>
      <dgm:spPr/>
      <dgm:t>
        <a:bodyPr/>
        <a:lstStyle/>
        <a:p>
          <a:pPr>
            <a:defRPr b="1"/>
          </a:pPr>
          <a:r>
            <a:rPr lang="en-US" b="1" dirty="0"/>
            <a:t>Opportunities (External Positives)</a:t>
          </a:r>
          <a:endParaRPr lang="en-US" dirty="0"/>
        </a:p>
      </dgm:t>
    </dgm:pt>
    <dgm:pt modelId="{A1F8215B-2052-4D9C-A0E1-A1D9D5BC4527}" type="parTrans" cxnId="{93BC4929-0139-49BD-8D51-8AEF5DCBD40D}">
      <dgm:prSet/>
      <dgm:spPr/>
      <dgm:t>
        <a:bodyPr/>
        <a:lstStyle/>
        <a:p>
          <a:endParaRPr lang="en-US"/>
        </a:p>
      </dgm:t>
    </dgm:pt>
    <dgm:pt modelId="{ADA9963F-AF66-430E-A909-574A979A289D}" type="sibTrans" cxnId="{93BC4929-0139-49BD-8D51-8AEF5DCBD40D}">
      <dgm:prSet/>
      <dgm:spPr/>
      <dgm:t>
        <a:bodyPr/>
        <a:lstStyle/>
        <a:p>
          <a:endParaRPr lang="en-US"/>
        </a:p>
      </dgm:t>
    </dgm:pt>
    <dgm:pt modelId="{DFE5AD20-FAA2-49C4-86AB-50D44B68944C}">
      <dgm:prSet/>
      <dgm:spPr/>
      <dgm:t>
        <a:bodyPr/>
        <a:lstStyle/>
        <a:p>
          <a:r>
            <a:rPr lang="en-US" b="1" dirty="0"/>
            <a:t>The L1.5 Support Model:</a:t>
          </a:r>
          <a:r>
            <a:rPr lang="en-US" dirty="0"/>
            <a:t> An innovation to place more knowledge at the first point of contact, aiming for a higher </a:t>
          </a:r>
          <a:r>
            <a:rPr lang="en-US" b="1" dirty="0"/>
            <a:t>First Contact Resolution (FCR)</a:t>
          </a:r>
          <a:r>
            <a:rPr lang="en-US" dirty="0"/>
            <a:t> rate.</a:t>
          </a:r>
        </a:p>
      </dgm:t>
    </dgm:pt>
    <dgm:pt modelId="{ED90469D-DAD8-44A9-9F3D-BB451AB7D67A}" type="parTrans" cxnId="{A2A9AE5A-F371-4869-81E0-DF42D2593F11}">
      <dgm:prSet/>
      <dgm:spPr/>
      <dgm:t>
        <a:bodyPr/>
        <a:lstStyle/>
        <a:p>
          <a:endParaRPr lang="en-US"/>
        </a:p>
      </dgm:t>
    </dgm:pt>
    <dgm:pt modelId="{85B00C6E-3026-4D50-9EF3-59A3140A1D79}" type="sibTrans" cxnId="{A2A9AE5A-F371-4869-81E0-DF42D2593F11}">
      <dgm:prSet/>
      <dgm:spPr/>
      <dgm:t>
        <a:bodyPr/>
        <a:lstStyle/>
        <a:p>
          <a:endParaRPr lang="en-US"/>
        </a:p>
      </dgm:t>
    </dgm:pt>
    <dgm:pt modelId="{278BA175-90E5-4498-807C-C626C4287D4A}">
      <dgm:prSet/>
      <dgm:spPr/>
      <dgm:t>
        <a:bodyPr/>
        <a:lstStyle/>
        <a:p>
          <a:r>
            <a:rPr lang="en-US" b="1"/>
            <a:t>Integration of AI:</a:t>
          </a:r>
          <a:r>
            <a:rPr lang="en-US"/>
            <a:t> AI is the key enabler for the L1.5 model, giving agents more information to solve issues faster.</a:t>
          </a:r>
        </a:p>
      </dgm:t>
    </dgm:pt>
    <dgm:pt modelId="{81B6E2E2-3158-4955-80EC-404F44E9409F}" type="parTrans" cxnId="{CC46BD7E-40F8-4E56-B3EE-42EE5677724C}">
      <dgm:prSet/>
      <dgm:spPr/>
      <dgm:t>
        <a:bodyPr/>
        <a:lstStyle/>
        <a:p>
          <a:endParaRPr lang="en-US"/>
        </a:p>
      </dgm:t>
    </dgm:pt>
    <dgm:pt modelId="{6BEDE3DE-2D0A-4356-B7A5-0B2F4F4E4CD8}" type="sibTrans" cxnId="{CC46BD7E-40F8-4E56-B3EE-42EE5677724C}">
      <dgm:prSet/>
      <dgm:spPr/>
      <dgm:t>
        <a:bodyPr/>
        <a:lstStyle/>
        <a:p>
          <a:endParaRPr lang="en-US"/>
        </a:p>
      </dgm:t>
    </dgm:pt>
    <dgm:pt modelId="{F28652A9-66AE-4DF0-BCE7-CE35E8F95A6A}">
      <dgm:prSet/>
      <dgm:spPr/>
      <dgm:t>
        <a:bodyPr/>
        <a:lstStyle/>
        <a:p>
          <a:pPr>
            <a:defRPr b="1"/>
          </a:pPr>
          <a:r>
            <a:rPr lang="en-US" b="1"/>
            <a:t>Threats (External Negatives)</a:t>
          </a:r>
          <a:endParaRPr lang="en-US"/>
        </a:p>
      </dgm:t>
    </dgm:pt>
    <dgm:pt modelId="{11B72A91-55A3-4296-A513-16B197B53DD6}" type="parTrans" cxnId="{F4D8C7A3-0ED1-4B53-8196-01C3C97D0609}">
      <dgm:prSet/>
      <dgm:spPr/>
      <dgm:t>
        <a:bodyPr/>
        <a:lstStyle/>
        <a:p>
          <a:endParaRPr lang="en-US"/>
        </a:p>
      </dgm:t>
    </dgm:pt>
    <dgm:pt modelId="{BBBCFB6C-8A49-4A88-BC52-972CAFBD7E9F}" type="sibTrans" cxnId="{F4D8C7A3-0ED1-4B53-8196-01C3C97D0609}">
      <dgm:prSet/>
      <dgm:spPr/>
      <dgm:t>
        <a:bodyPr/>
        <a:lstStyle/>
        <a:p>
          <a:endParaRPr lang="en-US"/>
        </a:p>
      </dgm:t>
    </dgm:pt>
    <dgm:pt modelId="{BB46732B-91CA-4882-A594-DFD8FD572916}">
      <dgm:prSet/>
      <dgm:spPr/>
      <dgm:t>
        <a:bodyPr/>
        <a:lstStyle/>
        <a:p>
          <a:r>
            <a:rPr lang="en-US" b="1"/>
            <a:t>Staff Attrition:</a:t>
          </a:r>
          <a:r>
            <a:rPr lang="en-US"/>
            <a:t> The biggest threat is </a:t>
          </a:r>
          <a:r>
            <a:rPr lang="en-US" b="1"/>
            <a:t>losing trained staff</a:t>
          </a:r>
          <a:r>
            <a:rPr lang="en-US"/>
            <a:t>. This is a major risk to process consistency, often driven by a lack of career growth.</a:t>
          </a:r>
        </a:p>
      </dgm:t>
    </dgm:pt>
    <dgm:pt modelId="{250ACB29-ED8A-4BA9-A493-B96890CDECAF}" type="parTrans" cxnId="{8318F7AE-E35F-4DAD-9DC4-48FF1EA0A062}">
      <dgm:prSet/>
      <dgm:spPr/>
      <dgm:t>
        <a:bodyPr/>
        <a:lstStyle/>
        <a:p>
          <a:endParaRPr lang="en-US"/>
        </a:p>
      </dgm:t>
    </dgm:pt>
    <dgm:pt modelId="{43E422FA-7F33-4954-84EF-57659C074C40}" type="sibTrans" cxnId="{8318F7AE-E35F-4DAD-9DC4-48FF1EA0A062}">
      <dgm:prSet/>
      <dgm:spPr/>
      <dgm:t>
        <a:bodyPr/>
        <a:lstStyle/>
        <a:p>
          <a:endParaRPr lang="en-US"/>
        </a:p>
      </dgm:t>
    </dgm:pt>
    <dgm:pt modelId="{AC24F814-610D-47A3-9961-48B624DECF66}">
      <dgm:prSet/>
      <dgm:spPr/>
      <dgm:t>
        <a:bodyPr/>
        <a:lstStyle/>
        <a:p>
          <a:r>
            <a:rPr lang="en-US" b="1" dirty="0"/>
            <a:t>Challenging Contracts:</a:t>
          </a:r>
          <a:r>
            <a:rPr lang="en-US" dirty="0"/>
            <a:t> Low-margin contracts create commercial pressure that can compromise the provider's ability to fulfill SLAs.</a:t>
          </a:r>
        </a:p>
      </dgm:t>
    </dgm:pt>
    <dgm:pt modelId="{635C2DC9-AB43-4D1C-9DBD-34E08FE208C1}" type="parTrans" cxnId="{4BED814F-3311-4E10-BAD3-87F155995089}">
      <dgm:prSet/>
      <dgm:spPr/>
      <dgm:t>
        <a:bodyPr/>
        <a:lstStyle/>
        <a:p>
          <a:endParaRPr lang="en-US"/>
        </a:p>
      </dgm:t>
    </dgm:pt>
    <dgm:pt modelId="{D21C6310-4A92-4A68-A3C3-E7CF8292B8DE}" type="sibTrans" cxnId="{4BED814F-3311-4E10-BAD3-87F155995089}">
      <dgm:prSet/>
      <dgm:spPr/>
      <dgm:t>
        <a:bodyPr/>
        <a:lstStyle/>
        <a:p>
          <a:endParaRPr lang="en-US"/>
        </a:p>
      </dgm:t>
    </dgm:pt>
    <dgm:pt modelId="{4909C965-253A-47C4-8A5E-0505A355B093}" type="pres">
      <dgm:prSet presAssocID="{77684F8E-5ED2-4BBA-8FE7-B2FD6CDE3156}" presName="root" presStyleCnt="0">
        <dgm:presLayoutVars>
          <dgm:dir/>
          <dgm:resizeHandles val="exact"/>
        </dgm:presLayoutVars>
      </dgm:prSet>
      <dgm:spPr/>
    </dgm:pt>
    <dgm:pt modelId="{BF3EAF61-9D2A-41E1-BF99-DE7B1EF2DD8E}" type="pres">
      <dgm:prSet presAssocID="{AF709D48-3288-4CC0-B889-173C6FD86F17}" presName="compNode" presStyleCnt="0"/>
      <dgm:spPr/>
    </dgm:pt>
    <dgm:pt modelId="{0861DE8E-8A3D-470E-97A3-A1A72703E92C}" type="pres">
      <dgm:prSet presAssocID="{AF709D48-3288-4CC0-B889-173C6FD86F1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ål"/>
        </a:ext>
      </dgm:extLst>
    </dgm:pt>
    <dgm:pt modelId="{2A556D84-EB1F-4D2D-921B-18BE09511484}" type="pres">
      <dgm:prSet presAssocID="{AF709D48-3288-4CC0-B889-173C6FD86F17}" presName="iconSpace" presStyleCnt="0"/>
      <dgm:spPr/>
    </dgm:pt>
    <dgm:pt modelId="{51398DA2-A6B6-4FE4-A0A2-E722A631CF7B}" type="pres">
      <dgm:prSet presAssocID="{AF709D48-3288-4CC0-B889-173C6FD86F17}" presName="parTx" presStyleLbl="revTx" presStyleIdx="0" presStyleCnt="4">
        <dgm:presLayoutVars>
          <dgm:chMax val="0"/>
          <dgm:chPref val="0"/>
        </dgm:presLayoutVars>
      </dgm:prSet>
      <dgm:spPr/>
    </dgm:pt>
    <dgm:pt modelId="{691818AF-DD13-48AA-9053-3F2BDD3E9887}" type="pres">
      <dgm:prSet presAssocID="{AF709D48-3288-4CC0-B889-173C6FD86F17}" presName="txSpace" presStyleCnt="0"/>
      <dgm:spPr/>
    </dgm:pt>
    <dgm:pt modelId="{CC9A62C1-176F-4663-904E-643D8DC2DF96}" type="pres">
      <dgm:prSet presAssocID="{AF709D48-3288-4CC0-B889-173C6FD86F17}" presName="desTx" presStyleLbl="revTx" presStyleIdx="1" presStyleCnt="4">
        <dgm:presLayoutVars/>
      </dgm:prSet>
      <dgm:spPr/>
    </dgm:pt>
    <dgm:pt modelId="{8AB5032F-20A6-4126-9B2E-AA06EFC0CB61}" type="pres">
      <dgm:prSet presAssocID="{ADA9963F-AF66-430E-A909-574A979A289D}" presName="sibTrans" presStyleCnt="0"/>
      <dgm:spPr/>
    </dgm:pt>
    <dgm:pt modelId="{B799A8FE-1292-4944-A4E6-5988EC4BC3B4}" type="pres">
      <dgm:prSet presAssocID="{F28652A9-66AE-4DF0-BCE7-CE35E8F95A6A}" presName="compNode" presStyleCnt="0"/>
      <dgm:spPr/>
    </dgm:pt>
    <dgm:pt modelId="{9B31DD2E-93FA-48CC-8A8C-06FC5BF56C62}" type="pres">
      <dgm:prSet presAssocID="{F28652A9-66AE-4DF0-BCE7-CE35E8F95A6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a"/>
        </a:ext>
      </dgm:extLst>
    </dgm:pt>
    <dgm:pt modelId="{A5C39410-BC4F-445A-ADDF-DC2385D28E76}" type="pres">
      <dgm:prSet presAssocID="{F28652A9-66AE-4DF0-BCE7-CE35E8F95A6A}" presName="iconSpace" presStyleCnt="0"/>
      <dgm:spPr/>
    </dgm:pt>
    <dgm:pt modelId="{137063F5-021F-4E8A-B411-1904FAD7F5FC}" type="pres">
      <dgm:prSet presAssocID="{F28652A9-66AE-4DF0-BCE7-CE35E8F95A6A}" presName="parTx" presStyleLbl="revTx" presStyleIdx="2" presStyleCnt="4">
        <dgm:presLayoutVars>
          <dgm:chMax val="0"/>
          <dgm:chPref val="0"/>
        </dgm:presLayoutVars>
      </dgm:prSet>
      <dgm:spPr/>
    </dgm:pt>
    <dgm:pt modelId="{823B8A1F-3842-42B1-959B-77826052FF51}" type="pres">
      <dgm:prSet presAssocID="{F28652A9-66AE-4DF0-BCE7-CE35E8F95A6A}" presName="txSpace" presStyleCnt="0"/>
      <dgm:spPr/>
    </dgm:pt>
    <dgm:pt modelId="{5ECFEDD1-53EA-4B3D-8F9F-E7A2D5D04827}" type="pres">
      <dgm:prSet presAssocID="{F28652A9-66AE-4DF0-BCE7-CE35E8F95A6A}" presName="desTx" presStyleLbl="revTx" presStyleIdx="3" presStyleCnt="4">
        <dgm:presLayoutVars/>
      </dgm:prSet>
      <dgm:spPr/>
    </dgm:pt>
  </dgm:ptLst>
  <dgm:cxnLst>
    <dgm:cxn modelId="{27B92517-A558-47C5-80A5-58543DCDF55B}" type="presOf" srcId="{77684F8E-5ED2-4BBA-8FE7-B2FD6CDE3156}" destId="{4909C965-253A-47C4-8A5E-0505A355B093}" srcOrd="0" destOrd="0" presId="urn:microsoft.com/office/officeart/2018/5/layout/CenteredIconLabelDescriptionList"/>
    <dgm:cxn modelId="{B295721A-9F7E-44F0-960F-3C95D315D1A2}" type="presOf" srcId="{F28652A9-66AE-4DF0-BCE7-CE35E8F95A6A}" destId="{137063F5-021F-4E8A-B411-1904FAD7F5FC}" srcOrd="0" destOrd="0" presId="urn:microsoft.com/office/officeart/2018/5/layout/CenteredIconLabelDescriptionList"/>
    <dgm:cxn modelId="{93BC4929-0139-49BD-8D51-8AEF5DCBD40D}" srcId="{77684F8E-5ED2-4BBA-8FE7-B2FD6CDE3156}" destId="{AF709D48-3288-4CC0-B889-173C6FD86F17}" srcOrd="0" destOrd="0" parTransId="{A1F8215B-2052-4D9C-A0E1-A1D9D5BC4527}" sibTransId="{ADA9963F-AF66-430E-A909-574A979A289D}"/>
    <dgm:cxn modelId="{4BED814F-3311-4E10-BAD3-87F155995089}" srcId="{F28652A9-66AE-4DF0-BCE7-CE35E8F95A6A}" destId="{AC24F814-610D-47A3-9961-48B624DECF66}" srcOrd="1" destOrd="0" parTransId="{635C2DC9-AB43-4D1C-9DBD-34E08FE208C1}" sibTransId="{D21C6310-4A92-4A68-A3C3-E7CF8292B8DE}"/>
    <dgm:cxn modelId="{A2A9AE5A-F371-4869-81E0-DF42D2593F11}" srcId="{AF709D48-3288-4CC0-B889-173C6FD86F17}" destId="{DFE5AD20-FAA2-49C4-86AB-50D44B68944C}" srcOrd="0" destOrd="0" parTransId="{ED90469D-DAD8-44A9-9F3D-BB451AB7D67A}" sibTransId="{85B00C6E-3026-4D50-9EF3-59A3140A1D79}"/>
    <dgm:cxn modelId="{CC46BD7E-40F8-4E56-B3EE-42EE5677724C}" srcId="{AF709D48-3288-4CC0-B889-173C6FD86F17}" destId="{278BA175-90E5-4498-807C-C626C4287D4A}" srcOrd="1" destOrd="0" parTransId="{81B6E2E2-3158-4955-80EC-404F44E9409F}" sibTransId="{6BEDE3DE-2D0A-4356-B7A5-0B2F4F4E4CD8}"/>
    <dgm:cxn modelId="{4FBD4E92-2952-4A71-BFEA-FCB5700707E5}" type="presOf" srcId="{BB46732B-91CA-4882-A594-DFD8FD572916}" destId="{5ECFEDD1-53EA-4B3D-8F9F-E7A2D5D04827}" srcOrd="0" destOrd="0" presId="urn:microsoft.com/office/officeart/2018/5/layout/CenteredIconLabelDescriptionList"/>
    <dgm:cxn modelId="{FBB780A3-EA77-46CB-8DA0-7787C893ED76}" type="presOf" srcId="{AF709D48-3288-4CC0-B889-173C6FD86F17}" destId="{51398DA2-A6B6-4FE4-A0A2-E722A631CF7B}" srcOrd="0" destOrd="0" presId="urn:microsoft.com/office/officeart/2018/5/layout/CenteredIconLabelDescriptionList"/>
    <dgm:cxn modelId="{F4D8C7A3-0ED1-4B53-8196-01C3C97D0609}" srcId="{77684F8E-5ED2-4BBA-8FE7-B2FD6CDE3156}" destId="{F28652A9-66AE-4DF0-BCE7-CE35E8F95A6A}" srcOrd="1" destOrd="0" parTransId="{11B72A91-55A3-4296-A513-16B197B53DD6}" sibTransId="{BBBCFB6C-8A49-4A88-BC52-972CAFBD7E9F}"/>
    <dgm:cxn modelId="{8318F7AE-E35F-4DAD-9DC4-48FF1EA0A062}" srcId="{F28652A9-66AE-4DF0-BCE7-CE35E8F95A6A}" destId="{BB46732B-91CA-4882-A594-DFD8FD572916}" srcOrd="0" destOrd="0" parTransId="{250ACB29-ED8A-4BA9-A493-B96890CDECAF}" sibTransId="{43E422FA-7F33-4954-84EF-57659C074C40}"/>
    <dgm:cxn modelId="{7A9630BD-F495-4F48-A183-CE11394C1C30}" type="presOf" srcId="{AC24F814-610D-47A3-9961-48B624DECF66}" destId="{5ECFEDD1-53EA-4B3D-8F9F-E7A2D5D04827}" srcOrd="0" destOrd="1" presId="urn:microsoft.com/office/officeart/2018/5/layout/CenteredIconLabelDescriptionList"/>
    <dgm:cxn modelId="{2B9F72D6-1664-47DC-8FC9-90F3FABC9563}" type="presOf" srcId="{DFE5AD20-FAA2-49C4-86AB-50D44B68944C}" destId="{CC9A62C1-176F-4663-904E-643D8DC2DF96}" srcOrd="0" destOrd="0" presId="urn:microsoft.com/office/officeart/2018/5/layout/CenteredIconLabelDescriptionList"/>
    <dgm:cxn modelId="{758ED6EB-AA32-4DBA-87F5-6254F6882219}" type="presOf" srcId="{278BA175-90E5-4498-807C-C626C4287D4A}" destId="{CC9A62C1-176F-4663-904E-643D8DC2DF96}" srcOrd="0" destOrd="1" presId="urn:microsoft.com/office/officeart/2018/5/layout/CenteredIconLabelDescriptionList"/>
    <dgm:cxn modelId="{3A3EDF3E-8DEF-403C-B4A3-B9B8C8994A3A}" type="presParOf" srcId="{4909C965-253A-47C4-8A5E-0505A355B093}" destId="{BF3EAF61-9D2A-41E1-BF99-DE7B1EF2DD8E}" srcOrd="0" destOrd="0" presId="urn:microsoft.com/office/officeart/2018/5/layout/CenteredIconLabelDescriptionList"/>
    <dgm:cxn modelId="{B7D5EDEB-1767-4424-B84D-D5AC4D030892}" type="presParOf" srcId="{BF3EAF61-9D2A-41E1-BF99-DE7B1EF2DD8E}" destId="{0861DE8E-8A3D-470E-97A3-A1A72703E92C}" srcOrd="0" destOrd="0" presId="urn:microsoft.com/office/officeart/2018/5/layout/CenteredIconLabelDescriptionList"/>
    <dgm:cxn modelId="{75A4C2EC-B833-4E33-89EA-17775E0CF7F7}" type="presParOf" srcId="{BF3EAF61-9D2A-41E1-BF99-DE7B1EF2DD8E}" destId="{2A556D84-EB1F-4D2D-921B-18BE09511484}" srcOrd="1" destOrd="0" presId="urn:microsoft.com/office/officeart/2018/5/layout/CenteredIconLabelDescriptionList"/>
    <dgm:cxn modelId="{13776F68-AD5A-4A77-9F0E-E5E938E6CDCE}" type="presParOf" srcId="{BF3EAF61-9D2A-41E1-BF99-DE7B1EF2DD8E}" destId="{51398DA2-A6B6-4FE4-A0A2-E722A631CF7B}" srcOrd="2" destOrd="0" presId="urn:microsoft.com/office/officeart/2018/5/layout/CenteredIconLabelDescriptionList"/>
    <dgm:cxn modelId="{E86607C1-3F8E-4A0B-B103-7F5B99CF0902}" type="presParOf" srcId="{BF3EAF61-9D2A-41E1-BF99-DE7B1EF2DD8E}" destId="{691818AF-DD13-48AA-9053-3F2BDD3E9887}" srcOrd="3" destOrd="0" presId="urn:microsoft.com/office/officeart/2018/5/layout/CenteredIconLabelDescriptionList"/>
    <dgm:cxn modelId="{ACF84E8C-3A5D-41A9-9AA4-0BE721C1EE5E}" type="presParOf" srcId="{BF3EAF61-9D2A-41E1-BF99-DE7B1EF2DD8E}" destId="{CC9A62C1-176F-4663-904E-643D8DC2DF96}" srcOrd="4" destOrd="0" presId="urn:microsoft.com/office/officeart/2018/5/layout/CenteredIconLabelDescriptionList"/>
    <dgm:cxn modelId="{1132A2C6-29B9-4B3A-8DC0-B535AB0A86C1}" type="presParOf" srcId="{4909C965-253A-47C4-8A5E-0505A355B093}" destId="{8AB5032F-20A6-4126-9B2E-AA06EFC0CB61}" srcOrd="1" destOrd="0" presId="urn:microsoft.com/office/officeart/2018/5/layout/CenteredIconLabelDescriptionList"/>
    <dgm:cxn modelId="{82239927-434C-4B26-8E8D-769DE448E111}" type="presParOf" srcId="{4909C965-253A-47C4-8A5E-0505A355B093}" destId="{B799A8FE-1292-4944-A4E6-5988EC4BC3B4}" srcOrd="2" destOrd="0" presId="urn:microsoft.com/office/officeart/2018/5/layout/CenteredIconLabelDescriptionList"/>
    <dgm:cxn modelId="{27150777-6AE7-4F56-9E3C-4B62B55691FB}" type="presParOf" srcId="{B799A8FE-1292-4944-A4E6-5988EC4BC3B4}" destId="{9B31DD2E-93FA-48CC-8A8C-06FC5BF56C62}" srcOrd="0" destOrd="0" presId="urn:microsoft.com/office/officeart/2018/5/layout/CenteredIconLabelDescriptionList"/>
    <dgm:cxn modelId="{129FE265-3B7E-4504-AB6E-9AC4BCEBB4CC}" type="presParOf" srcId="{B799A8FE-1292-4944-A4E6-5988EC4BC3B4}" destId="{A5C39410-BC4F-445A-ADDF-DC2385D28E76}" srcOrd="1" destOrd="0" presId="urn:microsoft.com/office/officeart/2018/5/layout/CenteredIconLabelDescriptionList"/>
    <dgm:cxn modelId="{CBB9BD35-4195-48AB-A9B0-B611A0E08456}" type="presParOf" srcId="{B799A8FE-1292-4944-A4E6-5988EC4BC3B4}" destId="{137063F5-021F-4E8A-B411-1904FAD7F5FC}" srcOrd="2" destOrd="0" presId="urn:microsoft.com/office/officeart/2018/5/layout/CenteredIconLabelDescriptionList"/>
    <dgm:cxn modelId="{B5F86633-B340-4849-8620-B8E164EC3FF7}" type="presParOf" srcId="{B799A8FE-1292-4944-A4E6-5988EC4BC3B4}" destId="{823B8A1F-3842-42B1-959B-77826052FF51}" srcOrd="3" destOrd="0" presId="urn:microsoft.com/office/officeart/2018/5/layout/CenteredIconLabelDescriptionList"/>
    <dgm:cxn modelId="{95736071-D003-4D50-A7D7-5370C5D15141}" type="presParOf" srcId="{B799A8FE-1292-4944-A4E6-5988EC4BC3B4}" destId="{5ECFEDD1-53EA-4B3D-8F9F-E7A2D5D0482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6964B-D747-42A2-A536-C8EF32D38353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962E6-D8B1-4268-8F02-3C763C0A9260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a typeface="+mn-ea"/>
              <a:cs typeface="+mn-cs"/>
            </a:rPr>
            <a:t>The Context:</a:t>
          </a:r>
          <a:r>
            <a:rPr lang="en-US" sz="1800" kern="1200" dirty="0">
              <a:ea typeface="+mn-ea"/>
              <a:cs typeface="+mn-cs"/>
            </a:rPr>
            <a:t> In today's complex global IT environment, effective Incident Management (IM) is crucial for maintaining service continuity and client trust.</a:t>
          </a:r>
        </a:p>
      </dsp:txBody>
      <dsp:txXfrm>
        <a:off x="407014" y="1111259"/>
        <a:ext cx="3021172" cy="1875841"/>
      </dsp:txXfrm>
    </dsp:sp>
    <dsp:sp modelId="{BFC4AA2F-21FE-4FFE-BA16-F7BD667A880E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E5A93-6665-416C-A566-C19219D631C0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a typeface="+mn-ea"/>
              <a:cs typeface="+mn-cs"/>
            </a:rPr>
            <a:t>The Problem:</a:t>
          </a:r>
          <a:r>
            <a:rPr lang="en-US" sz="1800" kern="1200" dirty="0">
              <a:ea typeface="+mn-ea"/>
              <a:cs typeface="+mn-cs"/>
            </a:rPr>
            <a:t> There is often a significant gap between theoretical frameworks (like ITIL) and the real-world execution of IM at a large scale.</a:t>
          </a:r>
        </a:p>
      </dsp:txBody>
      <dsp:txXfrm>
        <a:off x="4242216" y="1111259"/>
        <a:ext cx="3021172" cy="1875841"/>
      </dsp:txXfrm>
    </dsp:sp>
    <dsp:sp modelId="{2300B101-A16B-4321-BA55-4F9764E65840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D3FAA-C4DD-474B-B831-66B00841E8FA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a typeface="+mn-ea"/>
              <a:cs typeface="+mn-cs"/>
            </a:rPr>
            <a:t>Our Aim:</a:t>
          </a:r>
          <a:r>
            <a:rPr lang="en-US" sz="1800" kern="1200" dirty="0">
              <a:ea typeface="+mn-ea"/>
              <a:cs typeface="+mn-cs"/>
            </a:rPr>
            <a:t> To bridge this gap by analyzing the practical application of IM, combining theoretical principles with practical expert knowledge</a:t>
          </a:r>
        </a:p>
      </dsp:txBody>
      <dsp:txXfrm>
        <a:off x="8077417" y="1111259"/>
        <a:ext cx="3021172" cy="1875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0B81E-AD90-403A-A2D2-BF89D93E264C}">
      <dsp:nvSpPr>
        <dsp:cNvPr id="0" name=""/>
        <dsp:cNvSpPr/>
      </dsp:nvSpPr>
      <dsp:spPr>
        <a:xfrm>
          <a:off x="0" y="656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20BAE-9105-4C08-AD3D-EAAEB38A0B47}">
      <dsp:nvSpPr>
        <dsp:cNvPr id="0" name=""/>
        <dsp:cNvSpPr/>
      </dsp:nvSpPr>
      <dsp:spPr>
        <a:xfrm>
          <a:off x="464584" y="346215"/>
          <a:ext cx="844699" cy="8446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DCCAF-11F8-4357-9FB3-D0CFFAAF0278}">
      <dsp:nvSpPr>
        <dsp:cNvPr id="0" name=""/>
        <dsp:cNvSpPr/>
      </dsp:nvSpPr>
      <dsp:spPr>
        <a:xfrm>
          <a:off x="1773868" y="656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are the key internal and external factors (Strengths, Weaknesses, Opportunities, and Threats) that govern effective IM in large organizations? </a:t>
          </a:r>
        </a:p>
      </dsp:txBody>
      <dsp:txXfrm>
        <a:off x="1773868" y="656"/>
        <a:ext cx="4846387" cy="1535816"/>
      </dsp:txXfrm>
    </dsp:sp>
    <dsp:sp modelId="{58B807B4-3DD0-4A1F-BDE5-06EED8236D75}">
      <dsp:nvSpPr>
        <dsp:cNvPr id="0" name=""/>
        <dsp:cNvSpPr/>
      </dsp:nvSpPr>
      <dsp:spPr>
        <a:xfrm>
          <a:off x="0" y="1920427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1E1B1-1A5E-400B-B5AB-9783D0C644C5}">
      <dsp:nvSpPr>
        <dsp:cNvPr id="0" name=""/>
        <dsp:cNvSpPr/>
      </dsp:nvSpPr>
      <dsp:spPr>
        <a:xfrm>
          <a:off x="464584" y="2265986"/>
          <a:ext cx="844699" cy="8446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C2F57-E33F-44D2-904D-DE67E37A58FC}">
      <dsp:nvSpPr>
        <dsp:cNvPr id="0" name=""/>
        <dsp:cNvSpPr/>
      </dsp:nvSpPr>
      <dsp:spPr>
        <a:xfrm>
          <a:off x="1773868" y="1920427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well do ITIL 4's principles translate to real-world practices, and what are the most common challenges faced in complex, global environments? </a:t>
          </a:r>
        </a:p>
      </dsp:txBody>
      <dsp:txXfrm>
        <a:off x="1773868" y="1920427"/>
        <a:ext cx="4846387" cy="1535816"/>
      </dsp:txXfrm>
    </dsp:sp>
    <dsp:sp modelId="{97C52193-CD52-4FDA-8801-8338D9BD9680}">
      <dsp:nvSpPr>
        <dsp:cNvPr id="0" name=""/>
        <dsp:cNvSpPr/>
      </dsp:nvSpPr>
      <dsp:spPr>
        <a:xfrm>
          <a:off x="0" y="3840198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15136-443E-4BCF-A805-D74D8974BB5B}">
      <dsp:nvSpPr>
        <dsp:cNvPr id="0" name=""/>
        <dsp:cNvSpPr/>
      </dsp:nvSpPr>
      <dsp:spPr>
        <a:xfrm>
          <a:off x="464584" y="4185757"/>
          <a:ext cx="844699" cy="8446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95346-2711-48B9-89DF-A42220AE71BA}">
      <dsp:nvSpPr>
        <dsp:cNvPr id="0" name=""/>
        <dsp:cNvSpPr/>
      </dsp:nvSpPr>
      <dsp:spPr>
        <a:xfrm>
          <a:off x="1773868" y="3840198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strategies prove effective for balancing technical resolution with transparent communication to stakeholders under time pressure? </a:t>
          </a:r>
        </a:p>
      </dsp:txBody>
      <dsp:txXfrm>
        <a:off x="1773868" y="3840198"/>
        <a:ext cx="4846387" cy="1535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3B9D6-F292-4B0C-8880-F77D46F6F6AB}">
      <dsp:nvSpPr>
        <dsp:cNvPr id="0" name=""/>
        <dsp:cNvSpPr/>
      </dsp:nvSpPr>
      <dsp:spPr>
        <a:xfrm>
          <a:off x="0" y="3281"/>
          <a:ext cx="6620255" cy="15343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8227C-0F50-42B5-A015-C9C2E03EB31B}">
      <dsp:nvSpPr>
        <dsp:cNvPr id="0" name=""/>
        <dsp:cNvSpPr/>
      </dsp:nvSpPr>
      <dsp:spPr>
        <a:xfrm>
          <a:off x="464130" y="348502"/>
          <a:ext cx="843874" cy="8438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F6F3E-9978-455E-81D6-11FE056B8845}">
      <dsp:nvSpPr>
        <dsp:cNvPr id="0" name=""/>
        <dsp:cNvSpPr/>
      </dsp:nvSpPr>
      <dsp:spPr>
        <a:xfrm>
          <a:off x="1772136" y="3281"/>
          <a:ext cx="2979115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Incident Management (IM):</a:t>
          </a:r>
          <a:endParaRPr lang="en-US" sz="2500" kern="1200" dirty="0"/>
        </a:p>
      </dsp:txBody>
      <dsp:txXfrm>
        <a:off x="1772136" y="3281"/>
        <a:ext cx="2979115" cy="1534317"/>
      </dsp:txXfrm>
    </dsp:sp>
    <dsp:sp modelId="{C867F03D-CC90-4182-9574-B9AD2E76D0D7}">
      <dsp:nvSpPr>
        <dsp:cNvPr id="0" name=""/>
        <dsp:cNvSpPr/>
      </dsp:nvSpPr>
      <dsp:spPr>
        <a:xfrm>
          <a:off x="4751251" y="3281"/>
          <a:ext cx="1867272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practice of minimizing the negative impact of an incident and restoring normal service operation as quickly as possible.</a:t>
          </a:r>
        </a:p>
      </dsp:txBody>
      <dsp:txXfrm>
        <a:off x="4751251" y="3281"/>
        <a:ext cx="1867272" cy="1534317"/>
      </dsp:txXfrm>
    </dsp:sp>
    <dsp:sp modelId="{F47B4512-B63E-416F-A0F9-8726D7532E45}">
      <dsp:nvSpPr>
        <dsp:cNvPr id="0" name=""/>
        <dsp:cNvSpPr/>
      </dsp:nvSpPr>
      <dsp:spPr>
        <a:xfrm>
          <a:off x="0" y="1921177"/>
          <a:ext cx="6620255" cy="15343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905E1-1BDD-4738-8901-2DCDA6E6D3CF}">
      <dsp:nvSpPr>
        <dsp:cNvPr id="0" name=""/>
        <dsp:cNvSpPr/>
      </dsp:nvSpPr>
      <dsp:spPr>
        <a:xfrm>
          <a:off x="464130" y="2266398"/>
          <a:ext cx="843874" cy="8438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1DBB0-D3A5-4428-B9E1-B9BFE5235596}">
      <dsp:nvSpPr>
        <dsp:cNvPr id="0" name=""/>
        <dsp:cNvSpPr/>
      </dsp:nvSpPr>
      <dsp:spPr>
        <a:xfrm>
          <a:off x="1772136" y="1921177"/>
          <a:ext cx="2979115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Support Hierarchy:</a:t>
          </a:r>
          <a:endParaRPr lang="en-US" sz="2500" kern="1200" dirty="0"/>
        </a:p>
      </dsp:txBody>
      <dsp:txXfrm>
        <a:off x="1772136" y="1921177"/>
        <a:ext cx="2979115" cy="1534317"/>
      </dsp:txXfrm>
    </dsp:sp>
    <dsp:sp modelId="{99C8F39B-5F63-4FA6-AF94-AC4B021E5333}">
      <dsp:nvSpPr>
        <dsp:cNvPr id="0" name=""/>
        <dsp:cNvSpPr/>
      </dsp:nvSpPr>
      <dsp:spPr>
        <a:xfrm>
          <a:off x="4751251" y="1921177"/>
          <a:ext cx="1867272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L1 (First Contact):</a:t>
          </a:r>
          <a:r>
            <a:rPr lang="en-US" sz="1100" kern="1200" dirty="0"/>
            <a:t> Focuses on quick resolution.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L2 / L3:</a:t>
          </a:r>
          <a:r>
            <a:rPr lang="en-US" sz="1100" kern="1200" dirty="0"/>
            <a:t> Possess more in-depth knowledge; often the "regular" delivery team responsible for system maintenance.</a:t>
          </a:r>
        </a:p>
      </dsp:txBody>
      <dsp:txXfrm>
        <a:off x="4751251" y="1921177"/>
        <a:ext cx="1867272" cy="1534317"/>
      </dsp:txXfrm>
    </dsp:sp>
    <dsp:sp modelId="{3711918B-7112-4431-B826-91285E162440}">
      <dsp:nvSpPr>
        <dsp:cNvPr id="0" name=""/>
        <dsp:cNvSpPr/>
      </dsp:nvSpPr>
      <dsp:spPr>
        <a:xfrm>
          <a:off x="0" y="3839073"/>
          <a:ext cx="6620255" cy="15343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2758F-3679-4DF4-B343-CF2FD46FE829}">
      <dsp:nvSpPr>
        <dsp:cNvPr id="0" name=""/>
        <dsp:cNvSpPr/>
      </dsp:nvSpPr>
      <dsp:spPr>
        <a:xfrm>
          <a:off x="464130" y="4184295"/>
          <a:ext cx="843874" cy="8438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A798F-E767-4377-92B9-7FD2459DBBCC}">
      <dsp:nvSpPr>
        <dsp:cNvPr id="0" name=""/>
        <dsp:cNvSpPr/>
      </dsp:nvSpPr>
      <dsp:spPr>
        <a:xfrm>
          <a:off x="1772136" y="3839073"/>
          <a:ext cx="2979115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Priority Classification:</a:t>
          </a:r>
          <a:endParaRPr lang="en-US" sz="2500" kern="1200" dirty="0"/>
        </a:p>
      </dsp:txBody>
      <dsp:txXfrm>
        <a:off x="1772136" y="3839073"/>
        <a:ext cx="2979115" cy="1534317"/>
      </dsp:txXfrm>
    </dsp:sp>
    <dsp:sp modelId="{FA03D0A6-0268-47F8-A25E-A27294BB2FF3}">
      <dsp:nvSpPr>
        <dsp:cNvPr id="0" name=""/>
        <dsp:cNvSpPr/>
      </dsp:nvSpPr>
      <dsp:spPr>
        <a:xfrm>
          <a:off x="4751251" y="3839073"/>
          <a:ext cx="1867272" cy="153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382" tIns="162382" rIns="162382" bIns="1623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Incidents are prioritized based on </a:t>
          </a:r>
          <a:r>
            <a:rPr lang="en-US" sz="1100" b="1" kern="1200" dirty="0"/>
            <a:t>Impact</a:t>
          </a:r>
          <a:r>
            <a:rPr lang="en-US" sz="1100" kern="1200" dirty="0"/>
            <a:t> and </a:t>
          </a:r>
          <a:r>
            <a:rPr lang="en-US" sz="1100" b="1" kern="1200" dirty="0"/>
            <a:t>Urgency</a:t>
          </a:r>
          <a:r>
            <a:rPr lang="en-US" sz="1100" kern="1200" dirty="0"/>
            <a:t>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Ranges from </a:t>
          </a:r>
          <a:r>
            <a:rPr lang="en-US" sz="1100" b="1" kern="1200" dirty="0"/>
            <a:t>P4</a:t>
          </a:r>
          <a:r>
            <a:rPr lang="en-US" sz="1100" kern="1200" dirty="0"/>
            <a:t> (low impact, individual) to </a:t>
          </a:r>
          <a:r>
            <a:rPr lang="en-US" sz="1100" b="1" kern="1200" dirty="0"/>
            <a:t>P1</a:t>
          </a:r>
          <a:r>
            <a:rPr lang="en-US" sz="1100" kern="1200" dirty="0"/>
            <a:t> (major impact, company-wide).</a:t>
          </a:r>
        </a:p>
      </dsp:txBody>
      <dsp:txXfrm>
        <a:off x="4751251" y="3839073"/>
        <a:ext cx="1867272" cy="1534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6AB15-0E71-41DA-8B44-574DE5ACBA5D}">
      <dsp:nvSpPr>
        <dsp:cNvPr id="0" name=""/>
        <dsp:cNvSpPr/>
      </dsp:nvSpPr>
      <dsp:spPr>
        <a:xfrm>
          <a:off x="804324" y="606649"/>
          <a:ext cx="862312" cy="862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B009C-BC38-486D-97A0-FAAE0637D66F}">
      <dsp:nvSpPr>
        <dsp:cNvPr id="0" name=""/>
        <dsp:cNvSpPr/>
      </dsp:nvSpPr>
      <dsp:spPr>
        <a:xfrm>
          <a:off x="3605" y="1578784"/>
          <a:ext cx="2463750" cy="438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Approach:</a:t>
          </a:r>
          <a:r>
            <a:rPr lang="en-US" sz="1400" kern="1200" dirty="0"/>
            <a:t> A qualitative, dual-methodology.</a:t>
          </a:r>
        </a:p>
      </dsp:txBody>
      <dsp:txXfrm>
        <a:off x="3605" y="1578784"/>
        <a:ext cx="2463750" cy="438855"/>
      </dsp:txXfrm>
    </dsp:sp>
    <dsp:sp modelId="{6463C67E-A969-4F4B-BE19-D8967FE2B608}">
      <dsp:nvSpPr>
        <dsp:cNvPr id="0" name=""/>
        <dsp:cNvSpPr/>
      </dsp:nvSpPr>
      <dsp:spPr>
        <a:xfrm>
          <a:off x="3605" y="2068720"/>
          <a:ext cx="2463750" cy="1091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DB2916-BC00-4BCD-9C03-8D8A361D77AA}">
      <dsp:nvSpPr>
        <dsp:cNvPr id="0" name=""/>
        <dsp:cNvSpPr/>
      </dsp:nvSpPr>
      <dsp:spPr>
        <a:xfrm>
          <a:off x="3699230" y="606649"/>
          <a:ext cx="862312" cy="862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C6F82-2FB1-4830-BC6A-FCF25D7A463F}">
      <dsp:nvSpPr>
        <dsp:cNvPr id="0" name=""/>
        <dsp:cNvSpPr/>
      </dsp:nvSpPr>
      <dsp:spPr>
        <a:xfrm>
          <a:off x="2898511" y="1578784"/>
          <a:ext cx="2463750" cy="438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1. Literature Review:</a:t>
          </a:r>
          <a:endParaRPr lang="en-US" sz="1400" kern="1200" dirty="0"/>
        </a:p>
      </dsp:txBody>
      <dsp:txXfrm>
        <a:off x="2898511" y="1578784"/>
        <a:ext cx="2463750" cy="438855"/>
      </dsp:txXfrm>
    </dsp:sp>
    <dsp:sp modelId="{2E6CA071-E24A-497E-BF41-6038FAF2E4CA}">
      <dsp:nvSpPr>
        <dsp:cNvPr id="0" name=""/>
        <dsp:cNvSpPr/>
      </dsp:nvSpPr>
      <dsp:spPr>
        <a:xfrm>
          <a:off x="2898511" y="2068720"/>
          <a:ext cx="2463750" cy="1091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conducted a systematic review to establish the theoretical foundation of ITSM and the evolution of ITIL.</a:t>
          </a:r>
        </a:p>
      </dsp:txBody>
      <dsp:txXfrm>
        <a:off x="2898511" y="2068720"/>
        <a:ext cx="2463750" cy="1091957"/>
      </dsp:txXfrm>
    </dsp:sp>
    <dsp:sp modelId="{27DF4805-F99D-41BB-94CF-BA8E5D683DA4}">
      <dsp:nvSpPr>
        <dsp:cNvPr id="0" name=""/>
        <dsp:cNvSpPr/>
      </dsp:nvSpPr>
      <dsp:spPr>
        <a:xfrm>
          <a:off x="6594136" y="606649"/>
          <a:ext cx="862312" cy="862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DC0E4-DCE3-4230-8D58-A78AD225D5FE}">
      <dsp:nvSpPr>
        <dsp:cNvPr id="0" name=""/>
        <dsp:cNvSpPr/>
      </dsp:nvSpPr>
      <dsp:spPr>
        <a:xfrm>
          <a:off x="5793418" y="1578784"/>
          <a:ext cx="2463750" cy="438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2. Expert Interview:</a:t>
          </a:r>
          <a:endParaRPr lang="en-US" sz="1400" kern="1200"/>
        </a:p>
      </dsp:txBody>
      <dsp:txXfrm>
        <a:off x="5793418" y="1578784"/>
        <a:ext cx="2463750" cy="438855"/>
      </dsp:txXfrm>
    </dsp:sp>
    <dsp:sp modelId="{A8A6B1FF-844F-4CF1-86C9-463C17A2722E}">
      <dsp:nvSpPr>
        <dsp:cNvPr id="0" name=""/>
        <dsp:cNvSpPr/>
      </dsp:nvSpPr>
      <dsp:spPr>
        <a:xfrm>
          <a:off x="5793418" y="2068720"/>
          <a:ext cx="2463750" cy="1091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Primary data was collected from </a:t>
          </a:r>
          <a:r>
            <a:rPr lang="en-US" sz="1100" b="1" kern="1200"/>
            <a:t>Jeroen Visser</a:t>
          </a:r>
          <a:r>
            <a:rPr lang="en-US" sz="1100" kern="1200"/>
            <a:t>, a Program Transformation Director.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 has </a:t>
          </a:r>
          <a:r>
            <a:rPr lang="en-US" sz="1100" b="1" kern="1200"/>
            <a:t>over 25 years</a:t>
          </a:r>
          <a:r>
            <a:rPr lang="en-US" sz="1100" kern="1200"/>
            <a:t> of experience in global IT at companies like Wipro, Hewlett-Packard (HP), and EDS.</a:t>
          </a:r>
        </a:p>
      </dsp:txBody>
      <dsp:txXfrm>
        <a:off x="5793418" y="2068720"/>
        <a:ext cx="2463750" cy="1091957"/>
      </dsp:txXfrm>
    </dsp:sp>
    <dsp:sp modelId="{744B6700-732E-4D19-AE70-01B471459FD8}">
      <dsp:nvSpPr>
        <dsp:cNvPr id="0" name=""/>
        <dsp:cNvSpPr/>
      </dsp:nvSpPr>
      <dsp:spPr>
        <a:xfrm>
          <a:off x="9489043" y="606649"/>
          <a:ext cx="862312" cy="8623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10088-F0A0-432F-8DB3-470B86ABBBA9}">
      <dsp:nvSpPr>
        <dsp:cNvPr id="0" name=""/>
        <dsp:cNvSpPr/>
      </dsp:nvSpPr>
      <dsp:spPr>
        <a:xfrm>
          <a:off x="8688324" y="1578784"/>
          <a:ext cx="2463750" cy="438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3. Data Analysis:</a:t>
          </a:r>
          <a:endParaRPr lang="en-US" sz="1400" kern="1200"/>
        </a:p>
      </dsp:txBody>
      <dsp:txXfrm>
        <a:off x="8688324" y="1578784"/>
        <a:ext cx="2463750" cy="438855"/>
      </dsp:txXfrm>
    </dsp:sp>
    <dsp:sp modelId="{20E45F54-E90B-4BC0-81C3-A0C68B95B222}">
      <dsp:nvSpPr>
        <dsp:cNvPr id="0" name=""/>
        <dsp:cNvSpPr/>
      </dsp:nvSpPr>
      <dsp:spPr>
        <a:xfrm>
          <a:off x="8688324" y="2068720"/>
          <a:ext cx="2463750" cy="1091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expert's insights were qualitatively analyzed and structured using the </a:t>
          </a:r>
          <a:r>
            <a:rPr lang="en-US" sz="1100" b="1" kern="1200" dirty="0"/>
            <a:t>SWOT framework</a:t>
          </a:r>
          <a:r>
            <a:rPr lang="en-US" sz="1100" kern="1200" dirty="0"/>
            <a:t> (Strengths, Weaknesses, Opportunities, Threats).</a:t>
          </a:r>
        </a:p>
      </dsp:txBody>
      <dsp:txXfrm>
        <a:off x="8688324" y="2068720"/>
        <a:ext cx="2463750" cy="1091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DDCE8-0435-47BF-B4DA-F52D4010EAF7}">
      <dsp:nvSpPr>
        <dsp:cNvPr id="0" name=""/>
        <dsp:cNvSpPr/>
      </dsp:nvSpPr>
      <dsp:spPr>
        <a:xfrm>
          <a:off x="2290905" y="0"/>
          <a:ext cx="1509048" cy="13701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FD684-BF5E-4205-B72C-3BF560F95A8E}">
      <dsp:nvSpPr>
        <dsp:cNvPr id="0" name=""/>
        <dsp:cNvSpPr/>
      </dsp:nvSpPr>
      <dsp:spPr>
        <a:xfrm>
          <a:off x="889646" y="1517118"/>
          <a:ext cx="4311566" cy="587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 dirty="0"/>
            <a:t>Strengths (Internal Positives)</a:t>
          </a:r>
          <a:endParaRPr lang="en-US" sz="2200" kern="1200" dirty="0"/>
        </a:p>
      </dsp:txBody>
      <dsp:txXfrm>
        <a:off x="889646" y="1517118"/>
        <a:ext cx="4311566" cy="587220"/>
      </dsp:txXfrm>
    </dsp:sp>
    <dsp:sp modelId="{8D365F85-529D-478B-A553-E5B0E296241B}">
      <dsp:nvSpPr>
        <dsp:cNvPr id="0" name=""/>
        <dsp:cNvSpPr/>
      </dsp:nvSpPr>
      <dsp:spPr>
        <a:xfrm>
          <a:off x="889646" y="2172681"/>
          <a:ext cx="4311566" cy="1594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SLA Compliance:</a:t>
          </a:r>
          <a:r>
            <a:rPr lang="en-US" sz="1700" kern="1200" dirty="0"/>
            <a:t> Client satisfaction is strongly driven by meeting contractual Service Level Agreements (SLAs), especially resolution speed.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Process Consistency:</a:t>
          </a:r>
          <a:r>
            <a:rPr lang="en-US" sz="1700" kern="1200"/>
            <a:t> Stable, documented processes are crucial for global "follow the sun" support.</a:t>
          </a:r>
        </a:p>
      </dsp:txBody>
      <dsp:txXfrm>
        <a:off x="889646" y="2172681"/>
        <a:ext cx="4311566" cy="1594456"/>
      </dsp:txXfrm>
    </dsp:sp>
    <dsp:sp modelId="{D849FE42-C111-4B2C-9C05-C4A10A0FD24B}">
      <dsp:nvSpPr>
        <dsp:cNvPr id="0" name=""/>
        <dsp:cNvSpPr/>
      </dsp:nvSpPr>
      <dsp:spPr>
        <a:xfrm>
          <a:off x="7356996" y="0"/>
          <a:ext cx="1509048" cy="13701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C997D-D8C1-4EFE-B359-24BEE806F051}">
      <dsp:nvSpPr>
        <dsp:cNvPr id="0" name=""/>
        <dsp:cNvSpPr/>
      </dsp:nvSpPr>
      <dsp:spPr>
        <a:xfrm>
          <a:off x="5955737" y="1517118"/>
          <a:ext cx="4311566" cy="587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/>
            <a:t>Weaknesses (Internal Negatives)</a:t>
          </a:r>
          <a:endParaRPr lang="en-US" sz="2200" kern="1200"/>
        </a:p>
      </dsp:txBody>
      <dsp:txXfrm>
        <a:off x="5955737" y="1517118"/>
        <a:ext cx="4311566" cy="587220"/>
      </dsp:txXfrm>
    </dsp:sp>
    <dsp:sp modelId="{2B03C749-B9A5-43EA-8D70-6808F2194D16}">
      <dsp:nvSpPr>
        <dsp:cNvPr id="0" name=""/>
        <dsp:cNvSpPr/>
      </dsp:nvSpPr>
      <dsp:spPr>
        <a:xfrm>
          <a:off x="5955737" y="2172681"/>
          <a:ext cx="4311566" cy="1594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Metric Misalignment:</a:t>
          </a:r>
          <a:r>
            <a:rPr lang="en-US" sz="1700" kern="1200"/>
            <a:t> A critical weakness. L1 agents, to meet personal targets, often </a:t>
          </a:r>
          <a:r>
            <a:rPr lang="en-US" sz="1700" b="1" kern="1200"/>
            <a:t>prematurely close tickets</a:t>
          </a:r>
          <a:r>
            <a:rPr lang="en-US" sz="1700" kern="1200"/>
            <a:t> that are not truly resolved.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Communication Gap:</a:t>
          </a:r>
          <a:r>
            <a:rPr lang="en-US" sz="1700" kern="1200" dirty="0"/>
            <a:t> Clients can be dissatisfied </a:t>
          </a:r>
          <a:r>
            <a:rPr lang="en-US" sz="1700" i="1" kern="1200" dirty="0"/>
            <a:t>even when SLAs are met</a:t>
          </a:r>
          <a:r>
            <a:rPr lang="en-US" sz="1700" kern="1200" dirty="0"/>
            <a:t>. This is often a communication gap within the client's own organization.</a:t>
          </a:r>
        </a:p>
      </dsp:txBody>
      <dsp:txXfrm>
        <a:off x="5955737" y="2172681"/>
        <a:ext cx="4311566" cy="15944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1DE8E-8A3D-470E-97A3-A1A72703E92C}">
      <dsp:nvSpPr>
        <dsp:cNvPr id="0" name=""/>
        <dsp:cNvSpPr/>
      </dsp:nvSpPr>
      <dsp:spPr>
        <a:xfrm>
          <a:off x="2290905" y="0"/>
          <a:ext cx="1509048" cy="13701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98DA2-A6B6-4FE4-A0A2-E722A631CF7B}">
      <dsp:nvSpPr>
        <dsp:cNvPr id="0" name=""/>
        <dsp:cNvSpPr/>
      </dsp:nvSpPr>
      <dsp:spPr>
        <a:xfrm>
          <a:off x="889646" y="1517118"/>
          <a:ext cx="4311566" cy="587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 dirty="0"/>
            <a:t>Opportunities (External Positives)</a:t>
          </a:r>
          <a:endParaRPr lang="en-US" sz="2100" kern="1200" dirty="0"/>
        </a:p>
      </dsp:txBody>
      <dsp:txXfrm>
        <a:off x="889646" y="1517118"/>
        <a:ext cx="4311566" cy="587220"/>
      </dsp:txXfrm>
    </dsp:sp>
    <dsp:sp modelId="{CC9A62C1-176F-4663-904E-643D8DC2DF96}">
      <dsp:nvSpPr>
        <dsp:cNvPr id="0" name=""/>
        <dsp:cNvSpPr/>
      </dsp:nvSpPr>
      <dsp:spPr>
        <a:xfrm>
          <a:off x="889646" y="2172681"/>
          <a:ext cx="4311566" cy="1594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The L1.5 Support Model:</a:t>
          </a:r>
          <a:r>
            <a:rPr lang="en-US" sz="1600" kern="1200" dirty="0"/>
            <a:t> An innovation to place more knowledge at the first point of contact, aiming for a higher </a:t>
          </a:r>
          <a:r>
            <a:rPr lang="en-US" sz="1600" b="1" kern="1200" dirty="0"/>
            <a:t>First Contact Resolution (FCR)</a:t>
          </a:r>
          <a:r>
            <a:rPr lang="en-US" sz="1600" kern="1200" dirty="0"/>
            <a:t> rate.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Integration of AI:</a:t>
          </a:r>
          <a:r>
            <a:rPr lang="en-US" sz="1600" kern="1200"/>
            <a:t> AI is the key enabler for the L1.5 model, giving agents more information to solve issues faster.</a:t>
          </a:r>
        </a:p>
      </dsp:txBody>
      <dsp:txXfrm>
        <a:off x="889646" y="2172681"/>
        <a:ext cx="4311566" cy="1594456"/>
      </dsp:txXfrm>
    </dsp:sp>
    <dsp:sp modelId="{9B31DD2E-93FA-48CC-8A8C-06FC5BF56C62}">
      <dsp:nvSpPr>
        <dsp:cNvPr id="0" name=""/>
        <dsp:cNvSpPr/>
      </dsp:nvSpPr>
      <dsp:spPr>
        <a:xfrm>
          <a:off x="7356996" y="0"/>
          <a:ext cx="1509048" cy="13701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063F5-021F-4E8A-B411-1904FAD7F5FC}">
      <dsp:nvSpPr>
        <dsp:cNvPr id="0" name=""/>
        <dsp:cNvSpPr/>
      </dsp:nvSpPr>
      <dsp:spPr>
        <a:xfrm>
          <a:off x="5955737" y="1517118"/>
          <a:ext cx="4311566" cy="587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/>
            <a:t>Threats (External Negatives)</a:t>
          </a:r>
          <a:endParaRPr lang="en-US" sz="2100" kern="1200"/>
        </a:p>
      </dsp:txBody>
      <dsp:txXfrm>
        <a:off x="5955737" y="1517118"/>
        <a:ext cx="4311566" cy="587220"/>
      </dsp:txXfrm>
    </dsp:sp>
    <dsp:sp modelId="{5ECFEDD1-53EA-4B3D-8F9F-E7A2D5D04827}">
      <dsp:nvSpPr>
        <dsp:cNvPr id="0" name=""/>
        <dsp:cNvSpPr/>
      </dsp:nvSpPr>
      <dsp:spPr>
        <a:xfrm>
          <a:off x="5955737" y="2172681"/>
          <a:ext cx="4311566" cy="1594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Staff Attrition:</a:t>
          </a:r>
          <a:r>
            <a:rPr lang="en-US" sz="1600" kern="1200"/>
            <a:t> The biggest threat is </a:t>
          </a:r>
          <a:r>
            <a:rPr lang="en-US" sz="1600" b="1" kern="1200"/>
            <a:t>losing trained staff</a:t>
          </a:r>
          <a:r>
            <a:rPr lang="en-US" sz="1600" kern="1200"/>
            <a:t>. This is a major risk to process consistency, often driven by a lack of career growth.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Challenging Contracts:</a:t>
          </a:r>
          <a:r>
            <a:rPr lang="en-US" sz="1600" kern="1200" dirty="0"/>
            <a:t> Low-margin contracts create commercial pressure that can compromise the provider's ability to fulfill SLAs.</a:t>
          </a:r>
        </a:p>
      </dsp:txBody>
      <dsp:txXfrm>
        <a:off x="5955737" y="2172681"/>
        <a:ext cx="4311566" cy="15944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7E305-B0EE-3649-96F5-34AA17939EA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994A5-50EE-4D4C-B5BB-832801FA0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my name is </a:t>
            </a:r>
            <a:r>
              <a:rPr lang="en-US" b="1" dirty="0"/>
              <a:t>Adrian</a:t>
            </a:r>
            <a:r>
              <a:rPr lang="en-US" dirty="0"/>
              <a:t>, and today I’ll present our project </a:t>
            </a:r>
            <a:r>
              <a:rPr lang="en-US" i="1" dirty="0"/>
              <a:t>“Analyzing Incident Management Practices in Global IT Service Management.”</a:t>
            </a:r>
          </a:p>
          <a:p>
            <a:endParaRPr lang="en-US" dirty="0"/>
          </a:p>
          <a:p>
            <a:r>
              <a:rPr lang="en-US" dirty="0"/>
              <a:t>Our study explores how incident management works in a global IT organization — what’s effective, what’s challenging, and how well these practices align with the ITIL 4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3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management plays a central role in IT service delivery.</a:t>
            </a:r>
          </a:p>
          <a:p>
            <a:r>
              <a:rPr lang="en-US" dirty="0"/>
              <a:t>It’s about restoring normal operations quickly while keeping customers informed and satisfied.</a:t>
            </a:r>
          </a:p>
          <a:p>
            <a:endParaRPr lang="en-US" dirty="0"/>
          </a:p>
          <a:p>
            <a:r>
              <a:rPr lang="en-US" dirty="0"/>
              <a:t>Our aim was to analyze how this process functions in reality — combining theory with the perspective of an experienced IT professional — and to identify key strengths, weaknesses, and areas for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focused on three main questions:</a:t>
            </a:r>
          </a:p>
          <a:p>
            <a:endParaRPr lang="en-US" dirty="0"/>
          </a:p>
          <a:p>
            <a:r>
              <a:rPr lang="en-US" dirty="0"/>
              <a:t>What are the strengths, weaknesses, opportunities, and threats in the organization’s incident management process?</a:t>
            </a:r>
          </a:p>
          <a:p>
            <a:endParaRPr lang="en-US" dirty="0"/>
          </a:p>
          <a:p>
            <a:r>
              <a:rPr lang="en-US" dirty="0"/>
              <a:t>How well does ITIL 4 translate into daily practice?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strategies help balance quick technical fixes with clear communication to stakeholders?”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guided our data collection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75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 Management, or IM, aims to reduce downtime and restore service as fast as possible.</a:t>
            </a:r>
          </a:p>
          <a:p>
            <a:endParaRPr lang="en-US" dirty="0"/>
          </a:p>
          <a:p>
            <a:r>
              <a:rPr lang="en-US" dirty="0"/>
              <a:t>In global organizations, incidents are prioritized from P4 to P1 depending on urgency and impact.</a:t>
            </a:r>
          </a:p>
          <a:p>
            <a:endParaRPr lang="en-US" dirty="0"/>
          </a:p>
          <a:p>
            <a:r>
              <a:rPr lang="en-US" dirty="0"/>
              <a:t>The structure often includes several support levels, where clear communication and good documentation are essential for keeping processes consistent across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39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was based on </a:t>
            </a:r>
            <a:r>
              <a:rPr lang="en-US" b="1" dirty="0"/>
              <a:t>ITIL 4</a:t>
            </a:r>
            <a:r>
              <a:rPr lang="en-US" dirty="0"/>
              <a:t>, which focuses on co-creating value rather than just following strict procedures.</a:t>
            </a:r>
          </a:p>
          <a:p>
            <a:endParaRPr lang="en-US" dirty="0"/>
          </a:p>
          <a:p>
            <a:r>
              <a:rPr lang="en-US" dirty="0"/>
              <a:t>Two principles were especially relevant: </a:t>
            </a:r>
            <a:r>
              <a:rPr lang="en-US" i="1" dirty="0"/>
              <a:t>Focus on Value</a:t>
            </a:r>
            <a:r>
              <a:rPr lang="en-US" dirty="0"/>
              <a:t> and </a:t>
            </a:r>
            <a:r>
              <a:rPr lang="en-US" i="1" dirty="0"/>
              <a:t>Collaborate and Promote Visibility.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guided our analysis and helped us evaluate how well the organization’s actions align with ITIL’s goals of transparency and continual improvement.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3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a qualitative approach that combined literature review with an expert interview.</a:t>
            </a:r>
          </a:p>
          <a:p>
            <a:endParaRPr lang="en-US" dirty="0"/>
          </a:p>
          <a:p>
            <a:r>
              <a:rPr lang="en-US" dirty="0"/>
              <a:t>Our interviewee, </a:t>
            </a:r>
            <a:r>
              <a:rPr lang="en-US" b="1" dirty="0"/>
              <a:t>Jeroen Visser</a:t>
            </a:r>
            <a:r>
              <a:rPr lang="en-US" dirty="0"/>
              <a:t>, has over 25 years of experience in global IT Service Management.</a:t>
            </a:r>
          </a:p>
          <a:p>
            <a:endParaRPr lang="en-US" dirty="0"/>
          </a:p>
          <a:p>
            <a:r>
              <a:rPr lang="en-US" dirty="0"/>
              <a:t>We analyzed his insights thematically using a </a:t>
            </a:r>
            <a:r>
              <a:rPr lang="en-US" b="1" dirty="0"/>
              <a:t>SWOT framework</a:t>
            </a:r>
            <a:r>
              <a:rPr lang="en-US" dirty="0"/>
              <a:t>, identifying what works well and what still needs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09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organization shows maturity in its processes and strong customer focus.</a:t>
            </a:r>
          </a:p>
          <a:p>
            <a:endParaRPr lang="en-US" dirty="0"/>
          </a:p>
          <a:p>
            <a:r>
              <a:rPr lang="en-US" dirty="0"/>
              <a:t>SLA compliance and process consistency are definite strengths.</a:t>
            </a:r>
          </a:p>
          <a:p>
            <a:endParaRPr lang="en-US" dirty="0"/>
          </a:p>
          <a:p>
            <a:r>
              <a:rPr lang="en-US" dirty="0"/>
              <a:t>However, we found weaknesses like metric misalignment, where tickets are sometimes closed too quickly, and communication gaps that can reduce client satisfaction even when SLAs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4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There’s great opportunity in expanding </a:t>
            </a:r>
            <a:r>
              <a:rPr lang="en-US" b="1" dirty="0"/>
              <a:t>knowledge management</a:t>
            </a:r>
            <a:r>
              <a:rPr lang="en-US" dirty="0"/>
              <a:t> and </a:t>
            </a:r>
            <a:r>
              <a:rPr lang="en-US" b="1" dirty="0"/>
              <a:t>automation</a:t>
            </a:r>
            <a:r>
              <a:rPr lang="en-US" dirty="0"/>
              <a:t> to make incident resolution faster.</a:t>
            </a:r>
          </a:p>
          <a:p>
            <a:endParaRPr lang="en-US" dirty="0"/>
          </a:p>
          <a:p>
            <a:r>
              <a:rPr lang="en-US" dirty="0"/>
              <a:t>The expert also mentioned the emerging </a:t>
            </a:r>
            <a:r>
              <a:rPr lang="en-US" b="1" dirty="0"/>
              <a:t>L1.5 model</a:t>
            </a:r>
            <a:r>
              <a:rPr lang="en-US" dirty="0"/>
              <a:t>, where automation supports human agents.</a:t>
            </a:r>
          </a:p>
          <a:p>
            <a:endParaRPr lang="en-US" dirty="0"/>
          </a:p>
          <a:p>
            <a:r>
              <a:rPr lang="en-US" dirty="0"/>
              <a:t>But threats such as </a:t>
            </a:r>
            <a:r>
              <a:rPr lang="en-US" b="1" dirty="0"/>
              <a:t>staff attrition</a:t>
            </a:r>
            <a:r>
              <a:rPr lang="en-US" dirty="0"/>
              <a:t> and </a:t>
            </a:r>
            <a:r>
              <a:rPr lang="en-US" b="1" dirty="0"/>
              <a:t>low-margin contracts</a:t>
            </a:r>
            <a:r>
              <a:rPr lang="en-US" dirty="0"/>
              <a:t> create pressure that can affect long-term service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30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our key reflections was what we called the </a:t>
            </a:r>
            <a:r>
              <a:rPr lang="en-US" b="1" dirty="0"/>
              <a:t>“metric conflict.”</a:t>
            </a:r>
            <a:endParaRPr lang="en-US" dirty="0"/>
          </a:p>
          <a:p>
            <a:r>
              <a:rPr lang="en-US" dirty="0"/>
              <a:t>Performance indicators like closure rate sometimes go against ITIL’s </a:t>
            </a:r>
            <a:r>
              <a:rPr lang="en-US" i="1" dirty="0"/>
              <a:t>Focus on Value</a:t>
            </a:r>
            <a:r>
              <a:rPr lang="en-US" dirty="0"/>
              <a:t> principle.</a:t>
            </a:r>
          </a:p>
          <a:p>
            <a:endParaRPr lang="en-US" dirty="0"/>
          </a:p>
          <a:p>
            <a:r>
              <a:rPr lang="en-US" dirty="0"/>
              <a:t>The expert pointed out that ITIL isn’t the issue — the real challenge is how it’s applied.</a:t>
            </a:r>
          </a:p>
          <a:p>
            <a:endParaRPr lang="en-US" dirty="0"/>
          </a:p>
          <a:p>
            <a:r>
              <a:rPr lang="en-US" dirty="0"/>
              <a:t>Using automation and AI within an ITIL framework can help organizations bridge that gap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10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most issues we found were organizational rather than technical.</a:t>
            </a:r>
          </a:p>
          <a:p>
            <a:endParaRPr lang="en-US" dirty="0"/>
          </a:p>
          <a:p>
            <a:r>
              <a:rPr lang="en-US" dirty="0"/>
              <a:t>We recommend adjusting Level-1 metrics to prioritize First Contact Resolution, expanding automation and AI use, and improving career development to reduce turnover.</a:t>
            </a:r>
          </a:p>
          <a:p>
            <a:endParaRPr lang="en-US" dirty="0"/>
          </a:p>
          <a:p>
            <a:r>
              <a:rPr lang="en-US" dirty="0"/>
              <a:t>These steps would make the process more consistent and value-driven across global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7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listening.</a:t>
            </a:r>
          </a:p>
          <a:p>
            <a:endParaRPr lang="en-US" dirty="0"/>
          </a:p>
          <a:p>
            <a:r>
              <a:rPr lang="en-US" dirty="0"/>
              <a:t>This project helped us see that true service quality depends not only on tools or frameworks but on people, collaboration, and a shared commitment to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994A5-50EE-4D4C-B5BB-832801FA0B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9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4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4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9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6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0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1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6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8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39" r:id="rId6"/>
    <p:sldLayoutId id="2147483735" r:id="rId7"/>
    <p:sldLayoutId id="2147483736" r:id="rId8"/>
    <p:sldLayoutId id="2147483737" r:id="rId9"/>
    <p:sldLayoutId id="2147483738" r:id="rId10"/>
    <p:sldLayoutId id="214748374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5290219C-67DD-D599-5F22-0EF26381C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25" r="-1" b="898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75D337E-317A-4DE5-A744-F0371BBDA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652948" y="971397"/>
            <a:ext cx="5040784" cy="2333778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sv-SE" sz="3800" dirty="0" err="1">
                <a:solidFill>
                  <a:srgbClr val="FFFFFF"/>
                </a:solidFill>
              </a:rPr>
              <a:t>Analyzing</a:t>
            </a:r>
            <a:r>
              <a:rPr lang="sv-SE" sz="3800" dirty="0">
                <a:solidFill>
                  <a:srgbClr val="FFFFFF"/>
                </a:solidFill>
              </a:rPr>
              <a:t> Incident Management </a:t>
            </a:r>
            <a:r>
              <a:rPr lang="sv-SE" sz="3800" dirty="0" err="1">
                <a:solidFill>
                  <a:srgbClr val="FFFFFF"/>
                </a:solidFill>
              </a:rPr>
              <a:t>Practices</a:t>
            </a:r>
            <a:r>
              <a:rPr lang="sv-SE" sz="3800" dirty="0">
                <a:solidFill>
                  <a:srgbClr val="FFFFFF"/>
                </a:solidFill>
              </a:rPr>
              <a:t> in Global IT Service Management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652947" y="4482450"/>
            <a:ext cx="5040785" cy="1724029"/>
          </a:xfrm>
        </p:spPr>
        <p:txBody>
          <a:bodyPr anchor="t">
            <a:normAutofit/>
          </a:bodyPr>
          <a:lstStyle/>
          <a:p>
            <a:pPr algn="r"/>
            <a:r>
              <a:rPr lang="sv-SE" dirty="0">
                <a:solidFill>
                  <a:srgbClr val="FFFFFF"/>
                </a:solidFill>
              </a:rPr>
              <a:t>An expert </a:t>
            </a:r>
            <a:r>
              <a:rPr lang="sv-SE" dirty="0" err="1">
                <a:solidFill>
                  <a:srgbClr val="FFFFFF"/>
                </a:solidFill>
              </a:rPr>
              <a:t>perspective</a:t>
            </a:r>
            <a:r>
              <a:rPr lang="sv-SE" dirty="0">
                <a:solidFill>
                  <a:srgbClr val="FFFFFF"/>
                </a:solidFill>
              </a:rPr>
              <a:t> on Challenges, </a:t>
            </a:r>
            <a:r>
              <a:rPr lang="sv-SE" dirty="0" err="1">
                <a:solidFill>
                  <a:srgbClr val="FFFFFF"/>
                </a:solidFill>
              </a:rPr>
              <a:t>Opportunities</a:t>
            </a:r>
            <a:r>
              <a:rPr lang="sv-SE" dirty="0">
                <a:solidFill>
                  <a:srgbClr val="FFFFFF"/>
                </a:solidFill>
              </a:rPr>
              <a:t>, and ITIL4 </a:t>
            </a:r>
            <a:r>
              <a:rPr lang="sv-SE" dirty="0" err="1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2947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4D369141-1937-EC2C-0C6B-FB1986808AF1}"/>
              </a:ext>
            </a:extLst>
          </p:cNvPr>
          <p:cNvSpPr txBox="1"/>
          <p:nvPr/>
        </p:nvSpPr>
        <p:spPr>
          <a:xfrm>
            <a:off x="7874468" y="6253253"/>
            <a:ext cx="33631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sv-SE" dirty="0" err="1"/>
              <a:t>Vehid</a:t>
            </a:r>
            <a:r>
              <a:rPr lang="sv-SE" dirty="0"/>
              <a:t> </a:t>
            </a:r>
            <a:r>
              <a:rPr lang="sv-SE" dirty="0" err="1"/>
              <a:t>Sumic</a:t>
            </a:r>
            <a:r>
              <a:rPr lang="sv-SE" dirty="0"/>
              <a:t>, Anna Backolars, Adrian Ali </a:t>
            </a:r>
            <a:r>
              <a:rPr lang="sv-SE" dirty="0" err="1"/>
              <a:t>Nasrat</a:t>
            </a:r>
            <a:r>
              <a:rPr lang="sv-SE" dirty="0"/>
              <a:t>, </a:t>
            </a:r>
            <a:r>
              <a:rPr lang="sv-SE" dirty="0" err="1"/>
              <a:t>Nenxing</a:t>
            </a:r>
            <a:r>
              <a:rPr lang="sv-SE" dirty="0"/>
              <a:t> Peng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E48940F-480E-5B3A-1A8B-92F66E86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sv-SE" dirty="0" err="1">
                <a:ea typeface="+mj-lt"/>
                <a:cs typeface="+mj-lt"/>
              </a:rPr>
              <a:t>Introduction</a:t>
            </a:r>
            <a:r>
              <a:rPr lang="sv-SE" dirty="0">
                <a:ea typeface="+mj-lt"/>
                <a:cs typeface="+mj-lt"/>
              </a:rPr>
              <a:t> &amp; Research </a:t>
            </a:r>
            <a:r>
              <a:rPr lang="sv-SE" dirty="0" err="1">
                <a:ea typeface="+mj-lt"/>
                <a:cs typeface="+mj-lt"/>
              </a:rPr>
              <a:t>Aim</a:t>
            </a:r>
            <a:endParaRPr lang="sv-SE" dirty="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Platshållare för innehåll 2">
            <a:extLst>
              <a:ext uri="{FF2B5EF4-FFF2-40B4-BE49-F238E27FC236}">
                <a16:creationId xmlns:a16="http://schemas.microsoft.com/office/drawing/2014/main" id="{FBC89FA3-D775-E384-00F0-1AC73F30D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36174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057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8EFC545-87C2-191B-577C-3B8E9314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sv-SE" dirty="0">
                <a:ea typeface="+mj-lt"/>
                <a:cs typeface="+mj-lt"/>
              </a:rPr>
              <a:t>Research </a:t>
            </a:r>
            <a:r>
              <a:rPr lang="sv-SE" dirty="0" err="1">
                <a:ea typeface="+mj-lt"/>
                <a:cs typeface="+mj-lt"/>
              </a:rPr>
              <a:t>Questions</a:t>
            </a:r>
            <a:endParaRPr lang="sv-SE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8151E6CB-58BD-4071-D540-62AA7793E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091713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445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2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2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7" name="Rectangle 2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9148C37-6193-33F0-6723-5F5445F2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Background Key Concepts</a:t>
            </a: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18" name="Platshållare för innehåll 2">
            <a:extLst>
              <a:ext uri="{FF2B5EF4-FFF2-40B4-BE49-F238E27FC236}">
                <a16:creationId xmlns:a16="http://schemas.microsoft.com/office/drawing/2014/main" id="{0127E639-51FE-2E4C-173C-D15A2F497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62201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55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8A1B483-1DC5-8BA0-50F9-677727067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sv-SE" dirty="0" err="1"/>
              <a:t>Theoretical</a:t>
            </a:r>
            <a:r>
              <a:rPr lang="sv-SE" dirty="0">
                <a:ea typeface="+mj-lt"/>
                <a:cs typeface="+mj-lt"/>
              </a:rPr>
              <a:t> </a:t>
            </a:r>
            <a:r>
              <a:rPr lang="sv-SE" dirty="0" err="1">
                <a:ea typeface="+mj-lt"/>
                <a:cs typeface="+mj-lt"/>
              </a:rPr>
              <a:t>Framework</a:t>
            </a:r>
            <a:r>
              <a:rPr lang="sv-SE" dirty="0">
                <a:ea typeface="+mj-lt"/>
                <a:cs typeface="+mj-lt"/>
              </a:rPr>
              <a:t>: ITIL 4</a:t>
            </a:r>
            <a:endParaRPr lang="sv-S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latshållare för innehåll 2">
            <a:extLst>
              <a:ext uri="{FF2B5EF4-FFF2-40B4-BE49-F238E27FC236}">
                <a16:creationId xmlns:a16="http://schemas.microsoft.com/office/drawing/2014/main" id="{2C3C3BE4-ABAB-84DD-AD29-C28F05A2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sv-SE" b="1" dirty="0">
                <a:ea typeface="+mn-lt"/>
                <a:cs typeface="+mn-lt"/>
              </a:rPr>
              <a:t>Foundation: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Our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study</a:t>
            </a:r>
            <a:r>
              <a:rPr lang="sv-SE" dirty="0">
                <a:ea typeface="+mn-lt"/>
                <a:cs typeface="+mn-lt"/>
              </a:rPr>
              <a:t> is </a:t>
            </a:r>
            <a:r>
              <a:rPr lang="sv-SE" dirty="0" err="1">
                <a:ea typeface="+mn-lt"/>
                <a:cs typeface="+mn-lt"/>
              </a:rPr>
              <a:t>grounded</a:t>
            </a:r>
            <a:r>
              <a:rPr lang="sv-SE" dirty="0">
                <a:ea typeface="+mn-lt"/>
                <a:cs typeface="+mn-lt"/>
              </a:rPr>
              <a:t> in ITIL 4, the </a:t>
            </a:r>
            <a:r>
              <a:rPr lang="sv-SE" dirty="0" err="1">
                <a:ea typeface="+mn-lt"/>
                <a:cs typeface="+mn-lt"/>
              </a:rPr>
              <a:t>industry's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most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widely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adopted</a:t>
            </a:r>
            <a:r>
              <a:rPr lang="sv-SE" dirty="0">
                <a:ea typeface="+mn-lt"/>
                <a:cs typeface="+mn-lt"/>
              </a:rPr>
              <a:t> standard for IT Service Management (ITSM).</a:t>
            </a:r>
            <a:endParaRPr lang="sv-SE" dirty="0"/>
          </a:p>
          <a:p>
            <a:pPr>
              <a:lnSpc>
                <a:spcPct val="100000"/>
              </a:lnSpc>
            </a:pPr>
            <a:r>
              <a:rPr lang="sv-SE" b="1" dirty="0" err="1">
                <a:ea typeface="+mn-lt"/>
                <a:cs typeface="+mn-lt"/>
              </a:rPr>
              <a:t>Core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Concept</a:t>
            </a:r>
            <a:r>
              <a:rPr lang="sv-SE" b="1" dirty="0">
                <a:ea typeface="+mn-lt"/>
                <a:cs typeface="+mn-lt"/>
              </a:rPr>
              <a:t>: Service </a:t>
            </a:r>
            <a:r>
              <a:rPr lang="sv-SE" b="1" dirty="0" err="1">
                <a:ea typeface="+mn-lt"/>
                <a:cs typeface="+mn-lt"/>
              </a:rPr>
              <a:t>Value</a:t>
            </a:r>
            <a:r>
              <a:rPr lang="sv-SE" b="1" dirty="0">
                <a:ea typeface="+mn-lt"/>
                <a:cs typeface="+mn-lt"/>
              </a:rPr>
              <a:t> System (SVS):</a:t>
            </a:r>
            <a:endParaRPr lang="sv-SE" dirty="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sv-SE" dirty="0">
                <a:ea typeface="+mn-lt"/>
                <a:cs typeface="+mn-lt"/>
              </a:rPr>
              <a:t>A </a:t>
            </a:r>
            <a:r>
              <a:rPr lang="sv-SE" dirty="0" err="1">
                <a:ea typeface="+mn-lt"/>
                <a:cs typeface="+mn-lt"/>
              </a:rPr>
              <a:t>shift</a:t>
            </a:r>
            <a:r>
              <a:rPr lang="sv-SE" dirty="0">
                <a:ea typeface="+mn-lt"/>
                <a:cs typeface="+mn-lt"/>
              </a:rPr>
              <a:t> from rigid </a:t>
            </a:r>
            <a:r>
              <a:rPr lang="sv-SE" dirty="0" err="1">
                <a:ea typeface="+mn-lt"/>
                <a:cs typeface="+mn-lt"/>
              </a:rPr>
              <a:t>processes</a:t>
            </a:r>
            <a:r>
              <a:rPr lang="sv-SE" dirty="0">
                <a:ea typeface="+mn-lt"/>
                <a:cs typeface="+mn-lt"/>
              </a:rPr>
              <a:t> to </a:t>
            </a:r>
            <a:r>
              <a:rPr lang="sv-SE" dirty="0" err="1">
                <a:ea typeface="+mn-lt"/>
                <a:cs typeface="+mn-lt"/>
              </a:rPr>
              <a:t>emphasizing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value</a:t>
            </a:r>
            <a:r>
              <a:rPr lang="sv-SE" b="1" dirty="0">
                <a:ea typeface="+mn-lt"/>
                <a:cs typeface="+mn-lt"/>
              </a:rPr>
              <a:t> co-</a:t>
            </a:r>
            <a:r>
              <a:rPr lang="sv-SE" b="1" dirty="0" err="1">
                <a:ea typeface="+mn-lt"/>
                <a:cs typeface="+mn-lt"/>
              </a:rPr>
              <a:t>creation</a:t>
            </a:r>
            <a:r>
              <a:rPr lang="sv-SE" dirty="0">
                <a:ea typeface="+mn-lt"/>
                <a:cs typeface="+mn-lt"/>
              </a:rPr>
              <a:t> and </a:t>
            </a:r>
            <a:r>
              <a:rPr lang="sv-SE" dirty="0" err="1">
                <a:ea typeface="+mn-lt"/>
                <a:cs typeface="+mn-lt"/>
              </a:rPr>
              <a:t>continuous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improvement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pPr>
              <a:lnSpc>
                <a:spcPct val="100000"/>
              </a:lnSpc>
            </a:pPr>
            <a:r>
              <a:rPr lang="sv-SE" b="1" dirty="0" err="1">
                <a:ea typeface="+mn-lt"/>
                <a:cs typeface="+mn-lt"/>
              </a:rPr>
              <a:t>Key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Guiding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Principles</a:t>
            </a:r>
            <a:r>
              <a:rPr lang="sv-SE" b="1" dirty="0">
                <a:ea typeface="+mn-lt"/>
                <a:cs typeface="+mn-lt"/>
              </a:rPr>
              <a:t> for IM:</a:t>
            </a:r>
            <a:endParaRPr lang="sv-SE" dirty="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sv-SE" b="1" dirty="0">
                <a:ea typeface="+mn-lt"/>
                <a:cs typeface="+mn-lt"/>
              </a:rPr>
              <a:t>Focus on </a:t>
            </a:r>
            <a:r>
              <a:rPr lang="sv-SE" b="1" dirty="0" err="1">
                <a:ea typeface="+mn-lt"/>
                <a:cs typeface="+mn-lt"/>
              </a:rPr>
              <a:t>value</a:t>
            </a:r>
            <a:r>
              <a:rPr lang="sv-SE" b="1" dirty="0">
                <a:ea typeface="+mn-lt"/>
                <a:cs typeface="+mn-lt"/>
              </a:rPr>
              <a:t>: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Every</a:t>
            </a:r>
            <a:r>
              <a:rPr lang="sv-SE" dirty="0">
                <a:ea typeface="+mn-lt"/>
                <a:cs typeface="+mn-lt"/>
              </a:rPr>
              <a:t> action taken must be </a:t>
            </a:r>
            <a:r>
              <a:rPr lang="sv-SE" dirty="0" err="1">
                <a:ea typeface="+mn-lt"/>
                <a:cs typeface="+mn-lt"/>
              </a:rPr>
              <a:t>traceable</a:t>
            </a:r>
            <a:r>
              <a:rPr lang="sv-SE" dirty="0">
                <a:ea typeface="+mn-lt"/>
                <a:cs typeface="+mn-lt"/>
              </a:rPr>
              <a:t> to </a:t>
            </a:r>
            <a:r>
              <a:rPr lang="sv-SE" dirty="0" err="1">
                <a:ea typeface="+mn-lt"/>
                <a:cs typeface="+mn-lt"/>
              </a:rPr>
              <a:t>restoring</a:t>
            </a:r>
            <a:r>
              <a:rPr lang="sv-SE" dirty="0">
                <a:ea typeface="+mn-lt"/>
                <a:cs typeface="+mn-lt"/>
              </a:rPr>
              <a:t> service and </a:t>
            </a:r>
            <a:r>
              <a:rPr lang="sv-SE" dirty="0" err="1">
                <a:ea typeface="+mn-lt"/>
                <a:cs typeface="+mn-lt"/>
              </a:rPr>
              <a:t>delivering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value</a:t>
            </a:r>
            <a:r>
              <a:rPr lang="sv-SE" dirty="0">
                <a:ea typeface="+mn-lt"/>
                <a:cs typeface="+mn-lt"/>
              </a:rPr>
              <a:t> to the </a:t>
            </a:r>
            <a:r>
              <a:rPr lang="sv-SE" dirty="0" err="1">
                <a:ea typeface="+mn-lt"/>
                <a:cs typeface="+mn-lt"/>
              </a:rPr>
              <a:t>customer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sv-SE" b="1" dirty="0" err="1">
                <a:ea typeface="+mn-lt"/>
                <a:cs typeface="+mn-lt"/>
              </a:rPr>
              <a:t>Collaborate</a:t>
            </a:r>
            <a:r>
              <a:rPr lang="sv-SE" b="1" dirty="0">
                <a:ea typeface="+mn-lt"/>
                <a:cs typeface="+mn-lt"/>
              </a:rPr>
              <a:t> and </a:t>
            </a:r>
            <a:r>
              <a:rPr lang="sv-SE" b="1" dirty="0" err="1">
                <a:ea typeface="+mn-lt"/>
                <a:cs typeface="+mn-lt"/>
              </a:rPr>
              <a:t>promote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visibility</a:t>
            </a:r>
            <a:r>
              <a:rPr lang="sv-SE" b="1" dirty="0">
                <a:ea typeface="+mn-lt"/>
                <a:cs typeface="+mn-lt"/>
              </a:rPr>
              <a:t>: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Requires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clear</a:t>
            </a:r>
            <a:r>
              <a:rPr lang="sv-SE" dirty="0">
                <a:ea typeface="+mn-lt"/>
                <a:cs typeface="+mn-lt"/>
              </a:rPr>
              <a:t>, transparent </a:t>
            </a:r>
            <a:r>
              <a:rPr lang="sv-SE" dirty="0" err="1">
                <a:ea typeface="+mn-lt"/>
                <a:cs typeface="+mn-lt"/>
              </a:rPr>
              <a:t>communication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among</a:t>
            </a:r>
            <a:r>
              <a:rPr lang="sv-SE" dirty="0">
                <a:ea typeface="+mn-lt"/>
                <a:cs typeface="+mn-lt"/>
              </a:rPr>
              <a:t> all teams and </a:t>
            </a:r>
            <a:r>
              <a:rPr lang="sv-SE" dirty="0" err="1">
                <a:ea typeface="+mn-lt"/>
                <a:cs typeface="+mn-lt"/>
              </a:rPr>
              <a:t>stakeholders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pPr>
              <a:lnSpc>
                <a:spcPct val="100000"/>
              </a:lnSpc>
            </a:pPr>
            <a:endParaRPr lang="sv-SE" dirty="0"/>
          </a:p>
        </p:txBody>
      </p:sp>
      <p:pic>
        <p:nvPicPr>
          <p:cNvPr id="7" name="Graphic 6" descr="Skiftnyckel">
            <a:extLst>
              <a:ext uri="{FF2B5EF4-FFF2-40B4-BE49-F238E27FC236}">
                <a16:creationId xmlns:a16="http://schemas.microsoft.com/office/drawing/2014/main" id="{F8B24A1A-8738-9B48-115C-6B54DFE57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5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3A4461A-0CF6-8D30-96BB-4E0650EE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>
                <a:ea typeface="+mj-lt"/>
                <a:cs typeface="+mj-lt"/>
              </a:rPr>
              <a:t>Methodology</a:t>
            </a:r>
            <a:endParaRPr lang="sv-SE" dirty="0" err="1"/>
          </a:p>
        </p:txBody>
      </p:sp>
      <p:graphicFrame>
        <p:nvGraphicFramePr>
          <p:cNvPr id="10" name="Platshållare för innehåll 2">
            <a:extLst>
              <a:ext uri="{FF2B5EF4-FFF2-40B4-BE49-F238E27FC236}">
                <a16:creationId xmlns:a16="http://schemas.microsoft.com/office/drawing/2014/main" id="{DB2D4818-F0B8-918C-DC35-9DE7E73320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643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85EF946-83AB-FF56-209A-A183C6FF6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sv-SE" dirty="0" err="1">
                <a:ea typeface="+mj-lt"/>
                <a:cs typeface="+mj-lt"/>
              </a:rPr>
              <a:t>Key</a:t>
            </a:r>
            <a:r>
              <a:rPr lang="sv-SE" dirty="0">
                <a:ea typeface="+mj-lt"/>
                <a:cs typeface="+mj-lt"/>
              </a:rPr>
              <a:t> </a:t>
            </a:r>
            <a:r>
              <a:rPr lang="sv-SE" dirty="0" err="1">
                <a:ea typeface="+mj-lt"/>
                <a:cs typeface="+mj-lt"/>
              </a:rPr>
              <a:t>Results</a:t>
            </a:r>
            <a:r>
              <a:rPr lang="sv-SE" dirty="0">
                <a:ea typeface="+mj-lt"/>
                <a:cs typeface="+mj-lt"/>
              </a:rPr>
              <a:t>: </a:t>
            </a:r>
            <a:r>
              <a:rPr lang="sv-SE" dirty="0" err="1">
                <a:ea typeface="+mj-lt"/>
                <a:cs typeface="+mj-lt"/>
              </a:rPr>
              <a:t>Strengths</a:t>
            </a:r>
            <a:r>
              <a:rPr lang="sv-SE" dirty="0">
                <a:ea typeface="+mj-lt"/>
                <a:cs typeface="+mj-lt"/>
              </a:rPr>
              <a:t> &amp; </a:t>
            </a:r>
            <a:r>
              <a:rPr lang="sv-SE" dirty="0" err="1">
                <a:ea typeface="+mj-lt"/>
                <a:cs typeface="+mj-lt"/>
              </a:rPr>
              <a:t>Weaknesses</a:t>
            </a:r>
            <a:endParaRPr lang="sv-SE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6BADD78B-C88A-2104-283F-3B04E29ED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11626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82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A2BCF74-34F9-15B2-F9EC-ED652E8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sv-SE" dirty="0" err="1">
                <a:ea typeface="+mj-lt"/>
                <a:cs typeface="+mj-lt"/>
              </a:rPr>
              <a:t>Key</a:t>
            </a:r>
            <a:r>
              <a:rPr lang="sv-SE" dirty="0">
                <a:ea typeface="+mj-lt"/>
                <a:cs typeface="+mj-lt"/>
              </a:rPr>
              <a:t> </a:t>
            </a:r>
            <a:r>
              <a:rPr lang="sv-SE" dirty="0" err="1">
                <a:ea typeface="+mj-lt"/>
                <a:cs typeface="+mj-lt"/>
              </a:rPr>
              <a:t>Results</a:t>
            </a:r>
            <a:r>
              <a:rPr lang="sv-SE" dirty="0">
                <a:ea typeface="+mj-lt"/>
                <a:cs typeface="+mj-lt"/>
              </a:rPr>
              <a:t>: </a:t>
            </a:r>
            <a:r>
              <a:rPr lang="sv-SE" dirty="0" err="1">
                <a:ea typeface="+mj-lt"/>
                <a:cs typeface="+mj-lt"/>
              </a:rPr>
              <a:t>Opportunities</a:t>
            </a:r>
            <a:r>
              <a:rPr lang="sv-SE" dirty="0">
                <a:ea typeface="+mj-lt"/>
                <a:cs typeface="+mj-lt"/>
              </a:rPr>
              <a:t> &amp; </a:t>
            </a:r>
            <a:r>
              <a:rPr lang="sv-SE" dirty="0" err="1">
                <a:ea typeface="+mj-lt"/>
                <a:cs typeface="+mj-lt"/>
              </a:rPr>
              <a:t>Threats</a:t>
            </a:r>
            <a:endParaRPr lang="sv-SE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BB4044B1-B8AC-0055-B413-1BE6ECDB3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31231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738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88046C2-66AC-3AF1-EA7C-75D41588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dirty="0" err="1">
                <a:ea typeface="+mj-lt"/>
                <a:cs typeface="+mj-lt"/>
              </a:rPr>
              <a:t>Discussion</a:t>
            </a:r>
            <a:r>
              <a:rPr lang="sv-SE" dirty="0">
                <a:ea typeface="+mj-lt"/>
                <a:cs typeface="+mj-lt"/>
              </a:rPr>
              <a:t>: </a:t>
            </a:r>
            <a:r>
              <a:rPr lang="sv-SE" dirty="0" err="1">
                <a:ea typeface="+mj-lt"/>
                <a:cs typeface="+mj-lt"/>
              </a:rPr>
              <a:t>Theory</a:t>
            </a:r>
            <a:r>
              <a:rPr lang="sv-SE" dirty="0">
                <a:ea typeface="+mj-lt"/>
                <a:cs typeface="+mj-lt"/>
              </a:rPr>
              <a:t> vs. </a:t>
            </a:r>
            <a:r>
              <a:rPr lang="sv-SE" dirty="0" err="1">
                <a:ea typeface="+mj-lt"/>
                <a:cs typeface="+mj-lt"/>
              </a:rPr>
              <a:t>Practice</a:t>
            </a:r>
            <a:endParaRPr lang="sv-S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1" name="Graphic 20" descr="Mätare">
            <a:extLst>
              <a:ext uri="{FF2B5EF4-FFF2-40B4-BE49-F238E27FC236}">
                <a16:creationId xmlns:a16="http://schemas.microsoft.com/office/drawing/2014/main" id="{15C5D5F0-C39C-5669-2C07-CB040453E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7043EC7-39CF-5686-CD3D-0EB48FC4D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sv-SE" dirty="0"/>
          </a:p>
          <a:p>
            <a:r>
              <a:rPr lang="sv-SE" b="1" dirty="0">
                <a:ea typeface="+mn-lt"/>
                <a:cs typeface="+mn-lt"/>
              </a:rPr>
              <a:t>The "</a:t>
            </a:r>
            <a:r>
              <a:rPr lang="sv-SE" b="1" dirty="0" err="1">
                <a:ea typeface="+mn-lt"/>
                <a:cs typeface="+mn-lt"/>
              </a:rPr>
              <a:t>Metric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Conflict</a:t>
            </a:r>
            <a:r>
              <a:rPr lang="sv-SE" b="1" dirty="0">
                <a:ea typeface="+mn-lt"/>
                <a:cs typeface="+mn-lt"/>
              </a:rPr>
              <a:t>"</a:t>
            </a:r>
            <a:endParaRPr lang="sv-SE" dirty="0"/>
          </a:p>
          <a:p>
            <a:pPr marL="457200" lvl="1" indent="0">
              <a:buNone/>
            </a:pPr>
            <a:r>
              <a:rPr lang="sv-SE" dirty="0" err="1">
                <a:ea typeface="+mn-lt"/>
                <a:cs typeface="+mn-lt"/>
              </a:rPr>
              <a:t>This</a:t>
            </a:r>
            <a:r>
              <a:rPr lang="sv-SE" dirty="0">
                <a:ea typeface="+mn-lt"/>
                <a:cs typeface="+mn-lt"/>
              </a:rPr>
              <a:t> is the </a:t>
            </a:r>
            <a:r>
              <a:rPr lang="sv-SE" dirty="0" err="1">
                <a:ea typeface="+mn-lt"/>
                <a:cs typeface="+mn-lt"/>
              </a:rPr>
              <a:t>key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finding</a:t>
            </a:r>
            <a:r>
              <a:rPr lang="sv-SE" dirty="0">
                <a:ea typeface="+mn-lt"/>
                <a:cs typeface="+mn-lt"/>
              </a:rPr>
              <a:t>. The '</a:t>
            </a:r>
            <a:r>
              <a:rPr lang="sv-SE" dirty="0" err="1">
                <a:ea typeface="+mn-lt"/>
                <a:cs typeface="+mn-lt"/>
              </a:rPr>
              <a:t>Weakness</a:t>
            </a:r>
            <a:r>
              <a:rPr lang="sv-SE" dirty="0">
                <a:ea typeface="+mn-lt"/>
                <a:cs typeface="+mn-lt"/>
              </a:rPr>
              <a:t>' </a:t>
            </a:r>
            <a:r>
              <a:rPr lang="sv-SE" dirty="0" err="1">
                <a:ea typeface="+mn-lt"/>
                <a:cs typeface="+mn-lt"/>
              </a:rPr>
              <a:t>of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prematurely</a:t>
            </a:r>
            <a:r>
              <a:rPr lang="sv-SE" b="1" dirty="0">
                <a:ea typeface="+mn-lt"/>
                <a:cs typeface="+mn-lt"/>
              </a:rPr>
              <a:t> </a:t>
            </a:r>
            <a:r>
              <a:rPr lang="sv-SE" b="1" dirty="0" err="1">
                <a:ea typeface="+mn-lt"/>
                <a:cs typeface="+mn-lt"/>
              </a:rPr>
              <a:t>closing</a:t>
            </a:r>
            <a:r>
              <a:rPr lang="sv-SE" b="1" dirty="0">
                <a:ea typeface="+mn-lt"/>
                <a:cs typeface="+mn-lt"/>
              </a:rPr>
              <a:t> tickets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directly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undermines</a:t>
            </a:r>
            <a:r>
              <a:rPr lang="sv-SE" dirty="0">
                <a:ea typeface="+mn-lt"/>
                <a:cs typeface="+mn-lt"/>
              </a:rPr>
              <a:t> the </a:t>
            </a:r>
            <a:r>
              <a:rPr lang="sv-SE" dirty="0" err="1">
                <a:ea typeface="+mn-lt"/>
                <a:cs typeface="+mn-lt"/>
              </a:rPr>
              <a:t>core</a:t>
            </a:r>
            <a:r>
              <a:rPr lang="sv-SE" dirty="0">
                <a:ea typeface="+mn-lt"/>
                <a:cs typeface="+mn-lt"/>
              </a:rPr>
              <a:t> ITIL 4 </a:t>
            </a:r>
            <a:r>
              <a:rPr lang="sv-SE" dirty="0" err="1">
                <a:ea typeface="+mn-lt"/>
                <a:cs typeface="+mn-lt"/>
              </a:rPr>
              <a:t>principle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of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b="1" dirty="0">
                <a:ea typeface="+mn-lt"/>
                <a:cs typeface="+mn-lt"/>
              </a:rPr>
              <a:t>"Focus on </a:t>
            </a:r>
            <a:r>
              <a:rPr lang="sv-SE" b="1" dirty="0" err="1">
                <a:ea typeface="+mn-lt"/>
                <a:cs typeface="+mn-lt"/>
              </a:rPr>
              <a:t>value</a:t>
            </a:r>
            <a:r>
              <a:rPr lang="sv-SE" b="1" dirty="0">
                <a:ea typeface="+mn-lt"/>
                <a:cs typeface="+mn-lt"/>
              </a:rPr>
              <a:t>"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pPr marL="457200" lvl="1" indent="0">
              <a:buNone/>
            </a:pPr>
            <a:r>
              <a:rPr lang="sv-SE" dirty="0" err="1">
                <a:ea typeface="+mn-lt"/>
                <a:cs typeface="+mn-lt"/>
              </a:rPr>
              <a:t>This</a:t>
            </a:r>
            <a:r>
              <a:rPr lang="sv-SE" dirty="0">
                <a:ea typeface="+mn-lt"/>
                <a:cs typeface="+mn-lt"/>
              </a:rPr>
              <a:t> shows a </a:t>
            </a:r>
            <a:r>
              <a:rPr lang="sv-SE" dirty="0" err="1">
                <a:ea typeface="+mn-lt"/>
                <a:cs typeface="+mn-lt"/>
              </a:rPr>
              <a:t>clear</a:t>
            </a:r>
            <a:r>
              <a:rPr lang="sv-SE" dirty="0">
                <a:ea typeface="+mn-lt"/>
                <a:cs typeface="+mn-lt"/>
              </a:rPr>
              <a:t> gap </a:t>
            </a:r>
            <a:r>
              <a:rPr lang="sv-SE" dirty="0" err="1">
                <a:ea typeface="+mn-lt"/>
                <a:cs typeface="+mn-lt"/>
              </a:rPr>
              <a:t>where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internal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metrics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are</a:t>
            </a:r>
            <a:r>
              <a:rPr lang="sv-SE" dirty="0">
                <a:ea typeface="+mn-lt"/>
                <a:cs typeface="+mn-lt"/>
              </a:rPr>
              <a:t> in </a:t>
            </a:r>
            <a:r>
              <a:rPr lang="sv-SE" dirty="0" err="1">
                <a:ea typeface="+mn-lt"/>
                <a:cs typeface="+mn-lt"/>
              </a:rPr>
              <a:t>direct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conflict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with</a:t>
            </a:r>
            <a:r>
              <a:rPr lang="sv-SE" dirty="0">
                <a:ea typeface="+mn-lt"/>
                <a:cs typeface="+mn-lt"/>
              </a:rPr>
              <a:t> real </a:t>
            </a:r>
            <a:r>
              <a:rPr lang="sv-SE" dirty="0" err="1">
                <a:ea typeface="+mn-lt"/>
                <a:cs typeface="+mn-lt"/>
              </a:rPr>
              <a:t>customer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value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r>
              <a:rPr lang="sv-SE" b="1" dirty="0">
                <a:ea typeface="+mn-lt"/>
                <a:cs typeface="+mn-lt"/>
              </a:rPr>
              <a:t>ITIL </a:t>
            </a:r>
            <a:r>
              <a:rPr lang="sv-SE" b="1" dirty="0" err="1">
                <a:ea typeface="+mn-lt"/>
                <a:cs typeface="+mn-lt"/>
              </a:rPr>
              <a:t>Alignment</a:t>
            </a:r>
            <a:r>
              <a:rPr lang="sv-SE" b="1" dirty="0">
                <a:ea typeface="+mn-lt"/>
                <a:cs typeface="+mn-lt"/>
              </a:rPr>
              <a:t> &amp; Evolution</a:t>
            </a:r>
            <a:endParaRPr lang="sv-SE" dirty="0"/>
          </a:p>
          <a:p>
            <a:pPr marL="457200" lvl="1" indent="0">
              <a:buNone/>
            </a:pPr>
            <a:r>
              <a:rPr lang="sv-SE" dirty="0">
                <a:ea typeface="+mn-lt"/>
                <a:cs typeface="+mn-lt"/>
              </a:rPr>
              <a:t>The expert </a:t>
            </a:r>
            <a:r>
              <a:rPr lang="sv-SE" dirty="0" err="1">
                <a:ea typeface="+mn-lt"/>
                <a:cs typeface="+mn-lt"/>
              </a:rPr>
              <a:t>stated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that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b="1" dirty="0">
                <a:ea typeface="+mn-lt"/>
                <a:cs typeface="+mn-lt"/>
              </a:rPr>
              <a:t>ITIL </a:t>
            </a:r>
            <a:r>
              <a:rPr lang="sv-SE" b="1" dirty="0" err="1">
                <a:ea typeface="+mn-lt"/>
                <a:cs typeface="+mn-lt"/>
              </a:rPr>
              <a:t>itself</a:t>
            </a:r>
            <a:r>
              <a:rPr lang="sv-SE" b="1" dirty="0">
                <a:ea typeface="+mn-lt"/>
                <a:cs typeface="+mn-lt"/>
              </a:rPr>
              <a:t> is not the problem</a:t>
            </a:r>
            <a:r>
              <a:rPr lang="sv-SE" dirty="0">
                <a:ea typeface="+mn-lt"/>
                <a:cs typeface="+mn-lt"/>
              </a:rPr>
              <a:t>; </a:t>
            </a:r>
            <a:r>
              <a:rPr lang="sv-SE" dirty="0" err="1">
                <a:ea typeface="+mn-lt"/>
                <a:cs typeface="+mn-lt"/>
              </a:rPr>
              <a:t>rather</a:t>
            </a:r>
            <a:r>
              <a:rPr lang="sv-SE" dirty="0">
                <a:ea typeface="+mn-lt"/>
                <a:cs typeface="+mn-lt"/>
              </a:rPr>
              <a:t>, the </a:t>
            </a:r>
            <a:r>
              <a:rPr lang="sv-SE" dirty="0" err="1">
                <a:ea typeface="+mn-lt"/>
                <a:cs typeface="+mn-lt"/>
              </a:rPr>
              <a:t>challenge</a:t>
            </a:r>
            <a:r>
              <a:rPr lang="sv-SE" dirty="0">
                <a:ea typeface="+mn-lt"/>
                <a:cs typeface="+mn-lt"/>
              </a:rPr>
              <a:t> lies in </a:t>
            </a:r>
            <a:r>
              <a:rPr lang="sv-SE" i="1" dirty="0">
                <a:ea typeface="+mn-lt"/>
                <a:cs typeface="+mn-lt"/>
              </a:rPr>
              <a:t>implementation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pPr marL="457200" lvl="1" indent="0">
              <a:buNone/>
            </a:pPr>
            <a:r>
              <a:rPr lang="sv-SE" dirty="0">
                <a:ea typeface="+mn-lt"/>
                <a:cs typeface="+mn-lt"/>
              </a:rPr>
              <a:t>The L1.5 and AI (</a:t>
            </a:r>
            <a:r>
              <a:rPr lang="sv-SE" dirty="0" err="1">
                <a:ea typeface="+mn-lt"/>
                <a:cs typeface="+mn-lt"/>
              </a:rPr>
              <a:t>Opportunities</a:t>
            </a:r>
            <a:r>
              <a:rPr lang="sv-SE" dirty="0">
                <a:ea typeface="+mn-lt"/>
                <a:cs typeface="+mn-lt"/>
              </a:rPr>
              <a:t>) </a:t>
            </a:r>
            <a:r>
              <a:rPr lang="sv-SE" dirty="0" err="1">
                <a:ea typeface="+mn-lt"/>
                <a:cs typeface="+mn-lt"/>
              </a:rPr>
              <a:t>are</a:t>
            </a:r>
            <a:r>
              <a:rPr lang="sv-SE" dirty="0">
                <a:ea typeface="+mn-lt"/>
                <a:cs typeface="+mn-lt"/>
              </a:rPr>
              <a:t> a </a:t>
            </a:r>
            <a:r>
              <a:rPr lang="sv-SE" dirty="0" err="1">
                <a:ea typeface="+mn-lt"/>
                <a:cs typeface="+mn-lt"/>
              </a:rPr>
              <a:t>perfect</a:t>
            </a:r>
            <a:r>
              <a:rPr lang="sv-SE" dirty="0">
                <a:ea typeface="+mn-lt"/>
                <a:cs typeface="+mn-lt"/>
              </a:rPr>
              <a:t> practical </a:t>
            </a:r>
            <a:r>
              <a:rPr lang="sv-SE" dirty="0" err="1">
                <a:ea typeface="+mn-lt"/>
                <a:cs typeface="+mn-lt"/>
              </a:rPr>
              <a:t>application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of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ITIL's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b="1" dirty="0">
                <a:ea typeface="+mn-lt"/>
                <a:cs typeface="+mn-lt"/>
              </a:rPr>
              <a:t>"</a:t>
            </a:r>
            <a:r>
              <a:rPr lang="sv-SE" b="1" dirty="0" err="1">
                <a:ea typeface="+mn-lt"/>
                <a:cs typeface="+mn-lt"/>
              </a:rPr>
              <a:t>Optimize</a:t>
            </a:r>
            <a:r>
              <a:rPr lang="sv-SE" b="1" dirty="0">
                <a:ea typeface="+mn-lt"/>
                <a:cs typeface="+mn-lt"/>
              </a:rPr>
              <a:t> and </a:t>
            </a:r>
            <a:r>
              <a:rPr lang="sv-SE" b="1" dirty="0" err="1">
                <a:ea typeface="+mn-lt"/>
                <a:cs typeface="+mn-lt"/>
              </a:rPr>
              <a:t>automate</a:t>
            </a:r>
            <a:r>
              <a:rPr lang="sv-SE" b="1" dirty="0">
                <a:ea typeface="+mn-lt"/>
                <a:cs typeface="+mn-lt"/>
              </a:rPr>
              <a:t>"</a:t>
            </a:r>
            <a:r>
              <a:rPr lang="sv-SE" dirty="0">
                <a:ea typeface="+mn-lt"/>
                <a:cs typeface="+mn-lt"/>
              </a:rPr>
              <a:t> </a:t>
            </a:r>
            <a:r>
              <a:rPr lang="sv-SE" dirty="0" err="1">
                <a:ea typeface="+mn-lt"/>
                <a:cs typeface="+mn-lt"/>
              </a:rPr>
              <a:t>principle</a:t>
            </a:r>
            <a:r>
              <a:rPr lang="sv-SE" dirty="0">
                <a:ea typeface="+mn-lt"/>
                <a:cs typeface="+mn-lt"/>
              </a:rPr>
              <a:t>.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933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75C850F-E20D-8C13-E3BD-B0527879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sv-SE" dirty="0" err="1">
                <a:ea typeface="+mj-lt"/>
                <a:cs typeface="+mj-lt"/>
              </a:rPr>
              <a:t>Conclusion</a:t>
            </a:r>
            <a:r>
              <a:rPr lang="sv-SE" dirty="0">
                <a:ea typeface="+mj-lt"/>
                <a:cs typeface="+mj-lt"/>
              </a:rPr>
              <a:t> &amp; </a:t>
            </a:r>
            <a:r>
              <a:rPr lang="sv-SE" dirty="0" err="1">
                <a:ea typeface="+mj-lt"/>
                <a:cs typeface="+mj-lt"/>
              </a:rPr>
              <a:t>Recommendations</a:t>
            </a:r>
            <a:endParaRPr lang="sv-SE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" name="Graphic 6" descr="Användare">
            <a:extLst>
              <a:ext uri="{FF2B5EF4-FFF2-40B4-BE49-F238E27FC236}">
                <a16:creationId xmlns:a16="http://schemas.microsoft.com/office/drawing/2014/main" id="{1C3B73E4-626C-C7FB-4CA8-A29D75E21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  <p:sp>
        <p:nvSpPr>
          <p:cNvPr id="23" name="Platshållare för innehåll 2">
            <a:extLst>
              <a:ext uri="{FF2B5EF4-FFF2-40B4-BE49-F238E27FC236}">
                <a16:creationId xmlns:a16="http://schemas.microsoft.com/office/drawing/2014/main" id="{13EC0FF1-A4AA-B168-510C-BF86FE3B8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sv-SE" sz="1700" b="1" dirty="0" err="1">
                <a:ea typeface="+mn-lt"/>
                <a:cs typeface="+mn-lt"/>
              </a:rPr>
              <a:t>Conclusion</a:t>
            </a:r>
            <a:r>
              <a:rPr lang="sv-SE" sz="1700" b="1" dirty="0">
                <a:ea typeface="+mn-lt"/>
                <a:cs typeface="+mn-lt"/>
              </a:rPr>
              <a:t>:</a:t>
            </a:r>
            <a:r>
              <a:rPr lang="sv-SE" sz="1700" dirty="0">
                <a:ea typeface="+mn-lt"/>
                <a:cs typeface="+mn-lt"/>
              </a:rPr>
              <a:t> </a:t>
            </a:r>
            <a:endParaRPr lang="sv-SE" sz="1700" dirty="0"/>
          </a:p>
          <a:p>
            <a:pPr marL="457200" lvl="1" indent="0">
              <a:buNone/>
            </a:pPr>
            <a:r>
              <a:rPr lang="sv-SE" sz="1700" dirty="0">
                <a:ea typeface="+mn-lt"/>
                <a:cs typeface="+mn-lt"/>
              </a:rPr>
              <a:t>The </a:t>
            </a:r>
            <a:r>
              <a:rPr lang="sv-SE" sz="1700" dirty="0" err="1">
                <a:ea typeface="+mn-lt"/>
                <a:cs typeface="+mn-lt"/>
              </a:rPr>
              <a:t>biggest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challenges</a:t>
            </a:r>
            <a:r>
              <a:rPr lang="sv-SE" sz="1700" dirty="0">
                <a:ea typeface="+mn-lt"/>
                <a:cs typeface="+mn-lt"/>
              </a:rPr>
              <a:t> in IM </a:t>
            </a:r>
            <a:r>
              <a:rPr lang="sv-SE" sz="1700" dirty="0" err="1">
                <a:ea typeface="+mn-lt"/>
                <a:cs typeface="+mn-lt"/>
              </a:rPr>
              <a:t>are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b="1" dirty="0" err="1">
                <a:ea typeface="+mn-lt"/>
                <a:cs typeface="+mn-lt"/>
              </a:rPr>
              <a:t>organizational</a:t>
            </a:r>
            <a:r>
              <a:rPr lang="sv-SE" sz="1700" b="1" dirty="0">
                <a:ea typeface="+mn-lt"/>
                <a:cs typeface="+mn-lt"/>
              </a:rPr>
              <a:t>, not </a:t>
            </a:r>
            <a:r>
              <a:rPr lang="sv-SE" sz="1700" b="1" dirty="0" err="1">
                <a:ea typeface="+mn-lt"/>
                <a:cs typeface="+mn-lt"/>
              </a:rPr>
              <a:t>technical</a:t>
            </a:r>
            <a:r>
              <a:rPr lang="sv-SE" sz="1700" dirty="0">
                <a:ea typeface="+mn-lt"/>
                <a:cs typeface="+mn-lt"/>
              </a:rPr>
              <a:t>. The </a:t>
            </a:r>
            <a:r>
              <a:rPr lang="sv-SE" sz="1700" dirty="0" err="1">
                <a:ea typeface="+mn-lt"/>
                <a:cs typeface="+mn-lt"/>
              </a:rPr>
              <a:t>key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issues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are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metric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misalignments</a:t>
            </a:r>
            <a:r>
              <a:rPr lang="sv-SE" sz="1700" dirty="0">
                <a:ea typeface="+mn-lt"/>
                <a:cs typeface="+mn-lt"/>
              </a:rPr>
              <a:t> and </a:t>
            </a:r>
            <a:r>
              <a:rPr lang="sv-SE" sz="1700" dirty="0" err="1">
                <a:ea typeface="+mn-lt"/>
                <a:cs typeface="+mn-lt"/>
              </a:rPr>
              <a:t>staff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attrition</a:t>
            </a:r>
            <a:r>
              <a:rPr lang="sv-SE" sz="1700" dirty="0">
                <a:ea typeface="+mn-lt"/>
                <a:cs typeface="+mn-lt"/>
              </a:rPr>
              <a:t>.</a:t>
            </a:r>
          </a:p>
          <a:p>
            <a:pPr marL="457200" lvl="1" indent="0">
              <a:buNone/>
            </a:pPr>
            <a:endParaRPr lang="sv-SE" sz="1700" dirty="0">
              <a:ea typeface="+mn-lt"/>
              <a:cs typeface="+mn-lt"/>
            </a:endParaRPr>
          </a:p>
          <a:p>
            <a:r>
              <a:rPr lang="sv-SE" sz="1700" b="1" dirty="0" err="1">
                <a:ea typeface="+mn-lt"/>
                <a:cs typeface="+mn-lt"/>
              </a:rPr>
              <a:t>Recommendations</a:t>
            </a:r>
            <a:r>
              <a:rPr lang="sv-SE" sz="1700" b="1" dirty="0">
                <a:ea typeface="+mn-lt"/>
                <a:cs typeface="+mn-lt"/>
              </a:rPr>
              <a:t>:</a:t>
            </a:r>
            <a:endParaRPr lang="sv-SE" sz="1700" dirty="0"/>
          </a:p>
          <a:p>
            <a:pPr marL="457200" lvl="1" indent="0">
              <a:buNone/>
            </a:pPr>
            <a:r>
              <a:rPr lang="sv-SE" sz="1700" b="1" dirty="0" err="1">
                <a:ea typeface="+mn-lt"/>
                <a:cs typeface="+mn-lt"/>
              </a:rPr>
              <a:t>Realign</a:t>
            </a:r>
            <a:r>
              <a:rPr lang="sv-SE" sz="1700" b="1" dirty="0">
                <a:ea typeface="+mn-lt"/>
                <a:cs typeface="+mn-lt"/>
              </a:rPr>
              <a:t> L1 </a:t>
            </a:r>
            <a:r>
              <a:rPr lang="sv-SE" sz="1700" b="1" dirty="0" err="1">
                <a:ea typeface="+mn-lt"/>
                <a:cs typeface="+mn-lt"/>
              </a:rPr>
              <a:t>Metrics</a:t>
            </a:r>
            <a:r>
              <a:rPr lang="sv-SE" sz="1700" b="1" dirty="0">
                <a:ea typeface="+mn-lt"/>
                <a:cs typeface="+mn-lt"/>
              </a:rPr>
              <a:t>: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Shift</a:t>
            </a:r>
            <a:r>
              <a:rPr lang="sv-SE" sz="1700" dirty="0">
                <a:ea typeface="+mn-lt"/>
                <a:cs typeface="+mn-lt"/>
              </a:rPr>
              <a:t> focus </a:t>
            </a:r>
            <a:r>
              <a:rPr lang="sv-SE" sz="1700" i="1" dirty="0" err="1">
                <a:ea typeface="+mn-lt"/>
                <a:cs typeface="+mn-lt"/>
              </a:rPr>
              <a:t>away</a:t>
            </a:r>
            <a:r>
              <a:rPr lang="sv-SE" sz="1700" dirty="0">
                <a:ea typeface="+mn-lt"/>
                <a:cs typeface="+mn-lt"/>
              </a:rPr>
              <a:t> from "</a:t>
            </a:r>
            <a:r>
              <a:rPr lang="sv-SE" sz="1700" dirty="0" err="1">
                <a:ea typeface="+mn-lt"/>
                <a:cs typeface="+mn-lt"/>
              </a:rPr>
              <a:t>closure</a:t>
            </a:r>
            <a:r>
              <a:rPr lang="sv-SE" sz="1700" dirty="0">
                <a:ea typeface="+mn-lt"/>
                <a:cs typeface="+mn-lt"/>
              </a:rPr>
              <a:t> rates" and </a:t>
            </a:r>
            <a:r>
              <a:rPr lang="sv-SE" sz="1700" i="1" dirty="0" err="1">
                <a:ea typeface="+mn-lt"/>
                <a:cs typeface="+mn-lt"/>
              </a:rPr>
              <a:t>towards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b="1" dirty="0" err="1">
                <a:ea typeface="+mn-lt"/>
                <a:cs typeface="+mn-lt"/>
              </a:rPr>
              <a:t>First</a:t>
            </a:r>
            <a:r>
              <a:rPr lang="sv-SE" sz="1700" b="1" dirty="0">
                <a:ea typeface="+mn-lt"/>
                <a:cs typeface="+mn-lt"/>
              </a:rPr>
              <a:t> Contact Resolution (FCR)</a:t>
            </a:r>
            <a:r>
              <a:rPr lang="sv-SE" sz="1700" dirty="0">
                <a:ea typeface="+mn-lt"/>
                <a:cs typeface="+mn-lt"/>
              </a:rPr>
              <a:t> and </a:t>
            </a:r>
            <a:r>
              <a:rPr lang="sv-SE" sz="1700" dirty="0" err="1">
                <a:ea typeface="+mn-lt"/>
                <a:cs typeface="+mn-lt"/>
              </a:rPr>
              <a:t>customer</a:t>
            </a:r>
            <a:r>
              <a:rPr lang="sv-SE" sz="1700" dirty="0">
                <a:ea typeface="+mn-lt"/>
                <a:cs typeface="+mn-lt"/>
              </a:rPr>
              <a:t> feedback.</a:t>
            </a:r>
            <a:endParaRPr lang="sv-SE" sz="1700" dirty="0"/>
          </a:p>
          <a:p>
            <a:pPr marL="457200" lvl="1" indent="0">
              <a:buNone/>
            </a:pPr>
            <a:r>
              <a:rPr lang="sv-SE" sz="1700" b="1" dirty="0" err="1">
                <a:ea typeface="+mn-lt"/>
                <a:cs typeface="+mn-lt"/>
              </a:rPr>
              <a:t>Invest</a:t>
            </a:r>
            <a:r>
              <a:rPr lang="sv-SE" sz="1700" b="1" dirty="0">
                <a:ea typeface="+mn-lt"/>
                <a:cs typeface="+mn-lt"/>
              </a:rPr>
              <a:t> in L1.5 </a:t>
            </a:r>
            <a:r>
              <a:rPr lang="sv-SE" sz="1700" b="1" dirty="0" err="1">
                <a:ea typeface="+mn-lt"/>
                <a:cs typeface="+mn-lt"/>
              </a:rPr>
              <a:t>Models</a:t>
            </a:r>
            <a:r>
              <a:rPr lang="sv-SE" sz="1700" b="1" dirty="0">
                <a:ea typeface="+mn-lt"/>
                <a:cs typeface="+mn-lt"/>
              </a:rPr>
              <a:t>: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Use</a:t>
            </a:r>
            <a:r>
              <a:rPr lang="sv-SE" sz="1700" dirty="0">
                <a:ea typeface="+mn-lt"/>
                <a:cs typeface="+mn-lt"/>
              </a:rPr>
              <a:t> AI and </a:t>
            </a:r>
            <a:r>
              <a:rPr lang="sv-SE" sz="1700" dirty="0" err="1">
                <a:ea typeface="+mn-lt"/>
                <a:cs typeface="+mn-lt"/>
              </a:rPr>
              <a:t>knowledge</a:t>
            </a:r>
            <a:r>
              <a:rPr lang="sv-SE" sz="1700" dirty="0">
                <a:ea typeface="+mn-lt"/>
                <a:cs typeface="+mn-lt"/>
              </a:rPr>
              <a:t> systems to </a:t>
            </a:r>
            <a:r>
              <a:rPr lang="sv-SE" sz="1700" dirty="0" err="1">
                <a:ea typeface="+mn-lt"/>
                <a:cs typeface="+mn-lt"/>
              </a:rPr>
              <a:t>increase</a:t>
            </a:r>
            <a:r>
              <a:rPr lang="sv-SE" sz="1700" dirty="0">
                <a:ea typeface="+mn-lt"/>
                <a:cs typeface="+mn-lt"/>
              </a:rPr>
              <a:t> FCR and </a:t>
            </a:r>
            <a:r>
              <a:rPr lang="sv-SE" sz="1700" dirty="0" err="1">
                <a:ea typeface="+mn-lt"/>
                <a:cs typeface="+mn-lt"/>
              </a:rPr>
              <a:t>reduce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escalations</a:t>
            </a:r>
            <a:r>
              <a:rPr lang="sv-SE" sz="1700" dirty="0">
                <a:ea typeface="+mn-lt"/>
                <a:cs typeface="+mn-lt"/>
              </a:rPr>
              <a:t>.</a:t>
            </a:r>
            <a:endParaRPr lang="sv-SE" sz="1700" dirty="0"/>
          </a:p>
          <a:p>
            <a:pPr marL="457200" lvl="1" indent="0">
              <a:buNone/>
            </a:pPr>
            <a:r>
              <a:rPr lang="sv-SE" sz="1700" b="1" dirty="0" err="1">
                <a:ea typeface="+mn-lt"/>
                <a:cs typeface="+mn-lt"/>
              </a:rPr>
              <a:t>Address</a:t>
            </a:r>
            <a:r>
              <a:rPr lang="sv-SE" sz="1700" b="1" dirty="0">
                <a:ea typeface="+mn-lt"/>
                <a:cs typeface="+mn-lt"/>
              </a:rPr>
              <a:t> </a:t>
            </a:r>
            <a:r>
              <a:rPr lang="sv-SE" sz="1700" b="1" dirty="0" err="1">
                <a:ea typeface="+mn-lt"/>
                <a:cs typeface="+mn-lt"/>
              </a:rPr>
              <a:t>Attrition</a:t>
            </a:r>
            <a:r>
              <a:rPr lang="sv-SE" sz="1700" b="1" dirty="0">
                <a:ea typeface="+mn-lt"/>
                <a:cs typeface="+mn-lt"/>
              </a:rPr>
              <a:t>: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Mitigate</a:t>
            </a:r>
            <a:r>
              <a:rPr lang="sv-SE" sz="1700" dirty="0">
                <a:ea typeface="+mn-lt"/>
                <a:cs typeface="+mn-lt"/>
              </a:rPr>
              <a:t> the </a:t>
            </a:r>
            <a:r>
              <a:rPr lang="sv-SE" sz="1700" dirty="0" err="1">
                <a:ea typeface="+mn-lt"/>
                <a:cs typeface="+mn-lt"/>
              </a:rPr>
              <a:t>high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threat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of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staff</a:t>
            </a:r>
            <a:r>
              <a:rPr lang="sv-SE" sz="1700" dirty="0">
                <a:ea typeface="+mn-lt"/>
                <a:cs typeface="+mn-lt"/>
              </a:rPr>
              <a:t> loss </a:t>
            </a:r>
            <a:r>
              <a:rPr lang="sv-SE" sz="1700" dirty="0" err="1">
                <a:ea typeface="+mn-lt"/>
                <a:cs typeface="+mn-lt"/>
              </a:rPr>
              <a:t>with</a:t>
            </a:r>
            <a:r>
              <a:rPr lang="sv-SE" sz="1700" dirty="0">
                <a:ea typeface="+mn-lt"/>
                <a:cs typeface="+mn-lt"/>
              </a:rPr>
              <a:t> robust </a:t>
            </a:r>
            <a:r>
              <a:rPr lang="sv-SE" sz="1700" dirty="0" err="1">
                <a:ea typeface="+mn-lt"/>
                <a:cs typeface="+mn-lt"/>
              </a:rPr>
              <a:t>career</a:t>
            </a:r>
            <a:r>
              <a:rPr lang="sv-SE" sz="1700" dirty="0">
                <a:ea typeface="+mn-lt"/>
                <a:cs typeface="+mn-lt"/>
              </a:rPr>
              <a:t> </a:t>
            </a:r>
            <a:r>
              <a:rPr lang="sv-SE" sz="1700" dirty="0" err="1">
                <a:ea typeface="+mn-lt"/>
                <a:cs typeface="+mn-lt"/>
              </a:rPr>
              <a:t>development</a:t>
            </a:r>
            <a:r>
              <a:rPr lang="sv-SE" sz="1700" dirty="0">
                <a:ea typeface="+mn-lt"/>
                <a:cs typeface="+mn-lt"/>
              </a:rPr>
              <a:t> and retention programs.</a:t>
            </a:r>
            <a:endParaRPr lang="sv-SE" sz="1700" dirty="0"/>
          </a:p>
          <a:p>
            <a:endParaRPr lang="sv-SE" sz="1700" dirty="0"/>
          </a:p>
        </p:txBody>
      </p:sp>
    </p:spTree>
    <p:extLst>
      <p:ext uri="{BB962C8B-B14F-4D97-AF65-F5344CB8AC3E}">
        <p14:creationId xmlns:p14="http://schemas.microsoft.com/office/powerpoint/2010/main" val="198057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738468-D2A0-C152-5B2D-03D92441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67" y="824873"/>
            <a:ext cx="11155680" cy="1463040"/>
          </a:xfrm>
        </p:spPr>
        <p:txBody>
          <a:bodyPr/>
          <a:lstStyle/>
          <a:p>
            <a:r>
              <a:rPr lang="sv-SE" dirty="0"/>
              <a:t>   </a:t>
            </a:r>
            <a:r>
              <a:rPr lang="sv-SE" dirty="0" err="1"/>
              <a:t>Thank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for </a:t>
            </a:r>
            <a:r>
              <a:rPr lang="sv-SE" dirty="0" err="1"/>
              <a:t>listening</a:t>
            </a:r>
            <a:r>
              <a:rPr lang="sv-SE" dirty="0"/>
              <a:t> </a:t>
            </a:r>
            <a:r>
              <a:rPr lang="sv-SE" dirty="0">
                <a:sym typeface="Wingdings" pitchFamily="2" charset="2"/>
              </a:rPr>
              <a:t>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835464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1471</Words>
  <Application>Microsoft Macintosh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Bierstadt</vt:lpstr>
      <vt:lpstr>Courier New</vt:lpstr>
      <vt:lpstr>Wingdings</vt:lpstr>
      <vt:lpstr>GestaltVTI</vt:lpstr>
      <vt:lpstr>Analyzing Incident Management Practices in Global IT Service Management</vt:lpstr>
      <vt:lpstr>Introduction &amp; Research Aim</vt:lpstr>
      <vt:lpstr>Research Questions</vt:lpstr>
      <vt:lpstr>Background Key Concepts</vt:lpstr>
      <vt:lpstr>Theoretical Framework: ITIL 4</vt:lpstr>
      <vt:lpstr>Methodology</vt:lpstr>
      <vt:lpstr>Key Results: Strengths &amp; Weaknesses</vt:lpstr>
      <vt:lpstr>Key Results: Opportunities &amp; Threats</vt:lpstr>
      <vt:lpstr>Discussion: Theory vs. Practice</vt:lpstr>
      <vt:lpstr>Conclusion &amp; Recommendations</vt:lpstr>
      <vt:lpstr>   Thank you for listening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Ali Adrian Nasrat (Student)</cp:lastModifiedBy>
  <cp:revision>145</cp:revision>
  <dcterms:created xsi:type="dcterms:W3CDTF">2025-11-02T23:48:58Z</dcterms:created>
  <dcterms:modified xsi:type="dcterms:W3CDTF">2025-11-11T22:42:13Z</dcterms:modified>
</cp:coreProperties>
</file>