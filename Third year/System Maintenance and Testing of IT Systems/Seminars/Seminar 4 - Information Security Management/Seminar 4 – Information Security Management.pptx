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p:restoredTop sz="94737"/>
  </p:normalViewPr>
  <p:slideViewPr>
    <p:cSldViewPr snapToGrid="0">
      <p:cViewPr varScale="1">
        <p:scale>
          <a:sx n="119" d="100"/>
          <a:sy n="119" d="100"/>
        </p:scale>
        <p:origin x="1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195B-40E3-CA2F-8C1D-B6D3242BE7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FE3B2D-4EB5-5C3A-E39B-18A6100C6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99AEA7-9BF7-A79B-5615-1E64CD59476C}"/>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5" name="Footer Placeholder 4">
            <a:extLst>
              <a:ext uri="{FF2B5EF4-FFF2-40B4-BE49-F238E27FC236}">
                <a16:creationId xmlns:a16="http://schemas.microsoft.com/office/drawing/2014/main" id="{E9753631-F767-335D-05CF-2E41F2D81F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065236-875F-8C98-C252-6BF3A80BFB04}"/>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467222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41C1-7F9E-2581-D0F5-4F834835A4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B1B48F-687B-9AA8-B01C-BEB6B4A0E0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73795-853E-2A15-1139-AC31D8927A31}"/>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5" name="Footer Placeholder 4">
            <a:extLst>
              <a:ext uri="{FF2B5EF4-FFF2-40B4-BE49-F238E27FC236}">
                <a16:creationId xmlns:a16="http://schemas.microsoft.com/office/drawing/2014/main" id="{4BFDE2E5-7F41-D784-3CEB-98F5CE974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84375-7414-6C4C-C1B8-847F80D3F881}"/>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2549188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9A67-31A7-5691-4B8F-041B40BBFB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594745-F971-1BC5-CB40-5A8888D3B1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1F4F0D-1DD2-C46C-951E-D5005279ECA7}"/>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5" name="Footer Placeholder 4">
            <a:extLst>
              <a:ext uri="{FF2B5EF4-FFF2-40B4-BE49-F238E27FC236}">
                <a16:creationId xmlns:a16="http://schemas.microsoft.com/office/drawing/2014/main" id="{04428789-1AFC-32CB-B35F-C6E2492626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EC9D33-1191-6ECA-85C7-489C3F88B7D7}"/>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2906308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5FAF2-8EA4-21E8-7E2A-3B8D8C0927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A72C5-E6BF-4C50-1F30-56E7C4FC59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CF6E13-C771-698E-7F64-946E8066F4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3DF06A-99A7-B70A-F4FD-AE41CAEACF7A}"/>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6" name="Footer Placeholder 5">
            <a:extLst>
              <a:ext uri="{FF2B5EF4-FFF2-40B4-BE49-F238E27FC236}">
                <a16:creationId xmlns:a16="http://schemas.microsoft.com/office/drawing/2014/main" id="{7D60CF19-73AA-3F0B-1262-1404D5293D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0861EC-7574-FDE0-C249-4082AED11F8D}"/>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1333132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9122-F412-CCEA-A99C-DA20C257C1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F44E41-6ECF-3771-91AF-9C602490E1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28AF07-72DD-1258-A556-4331C0EDF0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D2053C-9020-CAB5-F4A0-4E822E98F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330D21-29C2-5CCD-5A3D-1AE2BB8E08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ACB050-98F7-CB56-A692-BFEC2A8694EB}"/>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8" name="Footer Placeholder 7">
            <a:extLst>
              <a:ext uri="{FF2B5EF4-FFF2-40B4-BE49-F238E27FC236}">
                <a16:creationId xmlns:a16="http://schemas.microsoft.com/office/drawing/2014/main" id="{EB7AF3B0-113A-5A82-C5A1-53DE76759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4D3489-6458-2B4C-9614-75CCB37E86A7}"/>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2885218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71DD2-2CD8-F09A-6C38-CCD773F521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4A7B41-2C11-3F82-060D-A759FE8421D5}"/>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4" name="Footer Placeholder 3">
            <a:extLst>
              <a:ext uri="{FF2B5EF4-FFF2-40B4-BE49-F238E27FC236}">
                <a16:creationId xmlns:a16="http://schemas.microsoft.com/office/drawing/2014/main" id="{7FAD628E-C83B-3F44-9583-D78219A06E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1E69C8-A4D2-BE2E-D51C-BB6B9EE88BF1}"/>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3345618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972696-29E8-978A-1252-EB6D73AA3C89}"/>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3" name="Footer Placeholder 2">
            <a:extLst>
              <a:ext uri="{FF2B5EF4-FFF2-40B4-BE49-F238E27FC236}">
                <a16:creationId xmlns:a16="http://schemas.microsoft.com/office/drawing/2014/main" id="{B202E887-F9F4-07D2-4814-96D409943A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1285AE-1089-9561-E098-84DD6AE60A61}"/>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3451905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3BE74-9795-E604-47BF-94D5A0F019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FC2ACA-2E1E-C43B-B9A2-EB6872782C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1DB8E2-47ED-B907-3318-BBB6AA56E9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23D80A-FBFF-A03C-D5D1-F2B95A878A91}"/>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6" name="Footer Placeholder 5">
            <a:extLst>
              <a:ext uri="{FF2B5EF4-FFF2-40B4-BE49-F238E27FC236}">
                <a16:creationId xmlns:a16="http://schemas.microsoft.com/office/drawing/2014/main" id="{5936F353-55C5-0136-F0F8-46674531E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B0E621-7A1D-560A-A8EE-AD989B404538}"/>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53236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004E-0A4A-35CD-67BF-DE9246205E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670D00-011B-96D5-24AC-B2E17D8C66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876407-964E-E000-24EC-F687938DC6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75D5C-F97E-8125-71D4-5141555A9CA4}"/>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6" name="Footer Placeholder 5">
            <a:extLst>
              <a:ext uri="{FF2B5EF4-FFF2-40B4-BE49-F238E27FC236}">
                <a16:creationId xmlns:a16="http://schemas.microsoft.com/office/drawing/2014/main" id="{9652A3AB-0E3C-126E-9594-13C1B18D88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4F0888-ECEA-36B5-2226-4784CA209176}"/>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118152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325C3-99F2-C7FE-9B5F-6E03978411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DFEF0B-5039-EDE1-580C-AF7F958BD4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76111-E6EF-A485-05B3-46F10E538072}"/>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5" name="Footer Placeholder 4">
            <a:extLst>
              <a:ext uri="{FF2B5EF4-FFF2-40B4-BE49-F238E27FC236}">
                <a16:creationId xmlns:a16="http://schemas.microsoft.com/office/drawing/2014/main" id="{BBCC444D-0018-BA27-6B68-2DF28D42E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FECC30-F2E3-EB6B-F3C2-FF4452BF1015}"/>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1256246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CD6EAC-7F15-17E6-FD3F-F38FFF38F1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D32D58-78AE-E235-F015-92FB31A9DD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8F7CDF-12E2-C4B5-20BC-E4AB3969C19D}"/>
              </a:ext>
            </a:extLst>
          </p:cNvPr>
          <p:cNvSpPr>
            <a:spLocks noGrp="1"/>
          </p:cNvSpPr>
          <p:nvPr>
            <p:ph type="dt" sz="half" idx="10"/>
          </p:nvPr>
        </p:nvSpPr>
        <p:spPr/>
        <p:txBody>
          <a:bodyPr/>
          <a:lstStyle/>
          <a:p>
            <a:fld id="{81464A99-FDD9-BA40-9613-35E2D36EEC83}" type="datetimeFigureOut">
              <a:rPr lang="en-US" smtClean="0"/>
              <a:t>9/24/25</a:t>
            </a:fld>
            <a:endParaRPr lang="en-US"/>
          </a:p>
        </p:txBody>
      </p:sp>
      <p:sp>
        <p:nvSpPr>
          <p:cNvPr id="5" name="Footer Placeholder 4">
            <a:extLst>
              <a:ext uri="{FF2B5EF4-FFF2-40B4-BE49-F238E27FC236}">
                <a16:creationId xmlns:a16="http://schemas.microsoft.com/office/drawing/2014/main" id="{CB7B5728-F4C2-D799-59F1-A77918F9B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393F12-A2C7-0E70-2B5B-DE479033027D}"/>
              </a:ext>
            </a:extLst>
          </p:cNvPr>
          <p:cNvSpPr>
            <a:spLocks noGrp="1"/>
          </p:cNvSpPr>
          <p:nvPr>
            <p:ph type="sldNum" sz="quarter" idx="12"/>
          </p:nvPr>
        </p:nvSpPr>
        <p:spPr/>
        <p:txBody>
          <a:bodyPr/>
          <a:lstStyle/>
          <a:p>
            <a:fld id="{EEA843FE-FB3E-D34F-9A8E-E02AB74B2804}" type="slidenum">
              <a:rPr lang="en-US" smtClean="0"/>
              <a:t>‹#›</a:t>
            </a:fld>
            <a:endParaRPr lang="en-US"/>
          </a:p>
        </p:txBody>
      </p:sp>
    </p:spTree>
    <p:extLst>
      <p:ext uri="{BB962C8B-B14F-4D97-AF65-F5344CB8AC3E}">
        <p14:creationId xmlns:p14="http://schemas.microsoft.com/office/powerpoint/2010/main" val="407096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823466-37D9-EB35-12E8-1895EA8EDB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A88AB-32C7-71B6-8861-B920FCF607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FBDD4-6648-B357-9066-2A166E6293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464A99-FDD9-BA40-9613-35E2D36EEC83}" type="datetimeFigureOut">
              <a:rPr lang="en-US" smtClean="0"/>
              <a:t>9/24/25</a:t>
            </a:fld>
            <a:endParaRPr lang="en-US"/>
          </a:p>
        </p:txBody>
      </p:sp>
      <p:sp>
        <p:nvSpPr>
          <p:cNvPr id="5" name="Footer Placeholder 4">
            <a:extLst>
              <a:ext uri="{FF2B5EF4-FFF2-40B4-BE49-F238E27FC236}">
                <a16:creationId xmlns:a16="http://schemas.microsoft.com/office/drawing/2014/main" id="{96DCE9F7-5E22-E1E2-36E9-AF01E6AA72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2AD205-267D-4BDA-E005-67E37857B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A843FE-FB3E-D34F-9A8E-E02AB74B2804}" type="slidenum">
              <a:rPr lang="en-US" smtClean="0"/>
              <a:t>‹#›</a:t>
            </a:fld>
            <a:endParaRPr lang="en-US"/>
          </a:p>
        </p:txBody>
      </p:sp>
    </p:spTree>
    <p:extLst>
      <p:ext uri="{BB962C8B-B14F-4D97-AF65-F5344CB8AC3E}">
        <p14:creationId xmlns:p14="http://schemas.microsoft.com/office/powerpoint/2010/main" val="2903296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ur-lex.europa.eu/eli/reg/2016/679/oj"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41D0AD-95A7-97B2-4FAE-C20A09AC4823}"/>
              </a:ext>
            </a:extLst>
          </p:cNvPr>
          <p:cNvSpPr>
            <a:spLocks noGrp="1"/>
          </p:cNvSpPr>
          <p:nvPr>
            <p:ph type="ctrTitle"/>
          </p:nvPr>
        </p:nvSpPr>
        <p:spPr>
          <a:xfrm>
            <a:off x="1314824" y="735106"/>
            <a:ext cx="10053763" cy="2928470"/>
          </a:xfrm>
        </p:spPr>
        <p:txBody>
          <a:bodyPr anchor="b">
            <a:normAutofit/>
          </a:bodyPr>
          <a:lstStyle/>
          <a:p>
            <a:pPr algn="l"/>
            <a:r>
              <a:rPr lang="en-US" sz="4800" b="1" dirty="0">
                <a:solidFill>
                  <a:srgbClr val="FFFFFF"/>
                </a:solidFill>
              </a:rPr>
              <a:t>Information Security Management</a:t>
            </a:r>
            <a:endParaRPr lang="en-US" sz="4800" dirty="0">
              <a:solidFill>
                <a:srgbClr val="FFFFFF"/>
              </a:solidFill>
            </a:endParaRPr>
          </a:p>
        </p:txBody>
      </p:sp>
      <p:sp>
        <p:nvSpPr>
          <p:cNvPr id="3" name="Subtitle 2">
            <a:extLst>
              <a:ext uri="{FF2B5EF4-FFF2-40B4-BE49-F238E27FC236}">
                <a16:creationId xmlns:a16="http://schemas.microsoft.com/office/drawing/2014/main" id="{0447E826-BB92-AFB9-71B4-C65B88673F6B}"/>
              </a:ext>
            </a:extLst>
          </p:cNvPr>
          <p:cNvSpPr>
            <a:spLocks noGrp="1"/>
          </p:cNvSpPr>
          <p:nvPr>
            <p:ph type="subTitle" idx="1"/>
          </p:nvPr>
        </p:nvSpPr>
        <p:spPr>
          <a:xfrm>
            <a:off x="1350682" y="4870824"/>
            <a:ext cx="10005951" cy="1458258"/>
          </a:xfrm>
        </p:spPr>
        <p:txBody>
          <a:bodyPr anchor="ctr">
            <a:normAutofit/>
          </a:bodyPr>
          <a:lstStyle/>
          <a:p>
            <a:pPr algn="l"/>
            <a:r>
              <a:rPr lang="en-US" dirty="0"/>
              <a:t>Ali Adrian Nasrat</a:t>
            </a:r>
          </a:p>
        </p:txBody>
      </p:sp>
    </p:spTree>
    <p:extLst>
      <p:ext uri="{BB962C8B-B14F-4D97-AF65-F5344CB8AC3E}">
        <p14:creationId xmlns:p14="http://schemas.microsoft.com/office/powerpoint/2010/main" val="3189548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B8EE4E-BA1D-6CD6-3BAD-00AA2C30AB64}"/>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Role of Information Security Management</a:t>
            </a:r>
            <a:endParaRPr lang="en-US" sz="4000">
              <a:solidFill>
                <a:srgbClr val="FFFFFF"/>
              </a:solidFill>
            </a:endParaRPr>
          </a:p>
        </p:txBody>
      </p:sp>
      <p:sp>
        <p:nvSpPr>
          <p:cNvPr id="3" name="Content Placeholder 2">
            <a:extLst>
              <a:ext uri="{FF2B5EF4-FFF2-40B4-BE49-F238E27FC236}">
                <a16:creationId xmlns:a16="http://schemas.microsoft.com/office/drawing/2014/main" id="{ABE26E47-3698-2BE8-82F9-14AF4381AA48}"/>
              </a:ext>
            </a:extLst>
          </p:cNvPr>
          <p:cNvSpPr>
            <a:spLocks noGrp="1"/>
          </p:cNvSpPr>
          <p:nvPr>
            <p:ph idx="1"/>
          </p:nvPr>
        </p:nvSpPr>
        <p:spPr>
          <a:xfrm>
            <a:off x="1371599" y="2318197"/>
            <a:ext cx="9724031" cy="3683358"/>
          </a:xfrm>
        </p:spPr>
        <p:txBody>
          <a:bodyPr anchor="ctr">
            <a:normAutofit/>
          </a:bodyPr>
          <a:lstStyle/>
          <a:p>
            <a:r>
              <a:rPr lang="en-US" sz="2000" b="1" dirty="0"/>
              <a:t>Protects information </a:t>
            </a:r>
            <a:r>
              <a:rPr lang="en-US" sz="2000" dirty="0"/>
              <a:t>needed for business</a:t>
            </a:r>
          </a:p>
          <a:p>
            <a:r>
              <a:rPr lang="en-US" sz="2000" dirty="0"/>
              <a:t>Manages risks to </a:t>
            </a:r>
            <a:r>
              <a:rPr lang="en-US" sz="2000" b="1" dirty="0"/>
              <a:t>confidentiality, integrity, availability</a:t>
            </a:r>
          </a:p>
          <a:p>
            <a:r>
              <a:rPr lang="en-US" sz="2000" dirty="0"/>
              <a:t>Also includes </a:t>
            </a:r>
            <a:r>
              <a:rPr lang="en-US" sz="2000" b="1" dirty="0"/>
              <a:t>authentication &amp; non-repudiation</a:t>
            </a:r>
          </a:p>
          <a:p>
            <a:pPr marL="0" indent="0">
              <a:buNone/>
            </a:pPr>
            <a:r>
              <a:rPr lang="en-US" sz="2000" dirty="0"/>
              <a:t>(Axelos Limited, 2019)</a:t>
            </a:r>
          </a:p>
        </p:txBody>
      </p:sp>
    </p:spTree>
    <p:extLst>
      <p:ext uri="{BB962C8B-B14F-4D97-AF65-F5344CB8AC3E}">
        <p14:creationId xmlns:p14="http://schemas.microsoft.com/office/powerpoint/2010/main" val="2532665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FE001-241E-A34C-7D37-60632BF097C3}"/>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Key Activities</a:t>
            </a:r>
            <a:endParaRPr lang="en-US" sz="4000">
              <a:solidFill>
                <a:srgbClr val="FFFFFF"/>
              </a:solidFill>
            </a:endParaRPr>
          </a:p>
        </p:txBody>
      </p:sp>
      <p:sp>
        <p:nvSpPr>
          <p:cNvPr id="3" name="Content Placeholder 2">
            <a:extLst>
              <a:ext uri="{FF2B5EF4-FFF2-40B4-BE49-F238E27FC236}">
                <a16:creationId xmlns:a16="http://schemas.microsoft.com/office/drawing/2014/main" id="{00D183B1-44F9-244E-1BDC-03182F657B03}"/>
              </a:ext>
            </a:extLst>
          </p:cNvPr>
          <p:cNvSpPr>
            <a:spLocks noGrp="1"/>
          </p:cNvSpPr>
          <p:nvPr>
            <p:ph idx="1"/>
          </p:nvPr>
        </p:nvSpPr>
        <p:spPr>
          <a:xfrm>
            <a:off x="1371599" y="2318197"/>
            <a:ext cx="9724031" cy="3683358"/>
          </a:xfrm>
        </p:spPr>
        <p:txBody>
          <a:bodyPr anchor="ctr">
            <a:normAutofit/>
          </a:bodyPr>
          <a:lstStyle/>
          <a:p>
            <a:r>
              <a:rPr lang="en-US" sz="2000" dirty="0"/>
              <a:t>Develop &amp; manage </a:t>
            </a:r>
            <a:r>
              <a:rPr lang="en-US" sz="2000" b="1" dirty="0"/>
              <a:t>security policies </a:t>
            </a:r>
            <a:r>
              <a:rPr lang="en-US" sz="2000" dirty="0"/>
              <a:t>and plans</a:t>
            </a:r>
          </a:p>
          <a:p>
            <a:r>
              <a:rPr lang="en-US" sz="2000" dirty="0"/>
              <a:t>Identify, analyze, and </a:t>
            </a:r>
            <a:r>
              <a:rPr lang="en-US" sz="2000" b="1" dirty="0"/>
              <a:t>treat risks</a:t>
            </a:r>
          </a:p>
          <a:p>
            <a:r>
              <a:rPr lang="en-US" sz="2000" dirty="0"/>
              <a:t>Exercise &amp; test </a:t>
            </a:r>
            <a:r>
              <a:rPr lang="en-US" sz="2000" b="1" dirty="0"/>
              <a:t>security plans</a:t>
            </a:r>
          </a:p>
          <a:p>
            <a:r>
              <a:rPr lang="en-US" sz="2000" b="1" dirty="0"/>
              <a:t>Embed security </a:t>
            </a:r>
            <a:r>
              <a:rPr lang="en-US" sz="2000" dirty="0"/>
              <a:t>across the Service Value System</a:t>
            </a:r>
          </a:p>
          <a:p>
            <a:pPr marL="0" indent="0">
              <a:buNone/>
            </a:pPr>
            <a:r>
              <a:rPr lang="en-US" sz="2000" dirty="0"/>
              <a:t>(Axelos Limited, 2019)</a:t>
            </a:r>
          </a:p>
        </p:txBody>
      </p:sp>
    </p:spTree>
    <p:extLst>
      <p:ext uri="{BB962C8B-B14F-4D97-AF65-F5344CB8AC3E}">
        <p14:creationId xmlns:p14="http://schemas.microsoft.com/office/powerpoint/2010/main" val="3621834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488F9-9196-3EF7-ED91-1A96A394B4FD}"/>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Importance and Value</a:t>
            </a:r>
            <a:endParaRPr lang="en-US" sz="4000">
              <a:solidFill>
                <a:srgbClr val="FFFFFF"/>
              </a:solidFill>
            </a:endParaRPr>
          </a:p>
        </p:txBody>
      </p:sp>
      <p:sp>
        <p:nvSpPr>
          <p:cNvPr id="3" name="Content Placeholder 2">
            <a:extLst>
              <a:ext uri="{FF2B5EF4-FFF2-40B4-BE49-F238E27FC236}">
                <a16:creationId xmlns:a16="http://schemas.microsoft.com/office/drawing/2014/main" id="{DFEDE600-3262-EF1B-57F9-3A7FCE76086C}"/>
              </a:ext>
            </a:extLst>
          </p:cNvPr>
          <p:cNvSpPr>
            <a:spLocks noGrp="1"/>
          </p:cNvSpPr>
          <p:nvPr>
            <p:ph idx="1"/>
          </p:nvPr>
        </p:nvSpPr>
        <p:spPr>
          <a:xfrm>
            <a:off x="1371599" y="2318197"/>
            <a:ext cx="9724031" cy="3683358"/>
          </a:xfrm>
        </p:spPr>
        <p:txBody>
          <a:bodyPr anchor="ctr">
            <a:normAutofit/>
          </a:bodyPr>
          <a:lstStyle/>
          <a:p>
            <a:r>
              <a:rPr lang="en-US" sz="2000" b="1" dirty="0"/>
              <a:t>Protects</a:t>
            </a:r>
            <a:r>
              <a:rPr lang="en-US" sz="2000" dirty="0"/>
              <a:t> against financial &amp; reputational loss</a:t>
            </a:r>
          </a:p>
          <a:p>
            <a:r>
              <a:rPr lang="en-US" sz="2000" b="1" dirty="0"/>
              <a:t>Builds trust </a:t>
            </a:r>
            <a:r>
              <a:rPr lang="en-US" sz="2000" dirty="0"/>
              <a:t>with customers and partners</a:t>
            </a:r>
          </a:p>
          <a:p>
            <a:r>
              <a:rPr lang="en-US" sz="2000" b="1" dirty="0"/>
              <a:t>Ensures compliance </a:t>
            </a:r>
            <a:r>
              <a:rPr lang="en-US" sz="2000" dirty="0"/>
              <a:t>with laws and standards</a:t>
            </a:r>
          </a:p>
          <a:p>
            <a:pPr lvl="1"/>
            <a:r>
              <a:rPr lang="en-US" sz="1600" dirty="0"/>
              <a:t>GDPR – protects data &amp; privacy in EU</a:t>
            </a:r>
          </a:p>
          <a:p>
            <a:pPr lvl="1"/>
            <a:r>
              <a:rPr lang="en-US" sz="1600" dirty="0"/>
              <a:t>ISO/IEC 27001 – global standard for ISMS</a:t>
            </a:r>
          </a:p>
          <a:p>
            <a:r>
              <a:rPr lang="en-US" sz="2000" dirty="0"/>
              <a:t>Supports business </a:t>
            </a:r>
            <a:r>
              <a:rPr lang="en-US" sz="2000" b="1" dirty="0"/>
              <a:t>continuity and resilience</a:t>
            </a:r>
          </a:p>
          <a:p>
            <a:pPr marL="0" indent="0">
              <a:buNone/>
            </a:pPr>
            <a:r>
              <a:rPr lang="en-US" sz="2000" dirty="0"/>
              <a:t>(Axelos Limited, 2019; </a:t>
            </a:r>
            <a:r>
              <a:rPr lang="en-US" sz="2000" dirty="0" err="1"/>
              <a:t>Thejendra</a:t>
            </a:r>
            <a:r>
              <a:rPr lang="en-US" sz="2000" dirty="0"/>
              <a:t>, 2014; International Organization for Standardization, 2013; European Union, 2016)</a:t>
            </a:r>
          </a:p>
        </p:txBody>
      </p:sp>
    </p:spTree>
    <p:extLst>
      <p:ext uri="{BB962C8B-B14F-4D97-AF65-F5344CB8AC3E}">
        <p14:creationId xmlns:p14="http://schemas.microsoft.com/office/powerpoint/2010/main" val="1013375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23C90C-9E13-C932-DAD7-D1044B303BBC}"/>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Challenges</a:t>
            </a:r>
            <a:endParaRPr lang="en-US" sz="4000">
              <a:solidFill>
                <a:srgbClr val="FFFFFF"/>
              </a:solidFill>
            </a:endParaRPr>
          </a:p>
        </p:txBody>
      </p:sp>
      <p:sp>
        <p:nvSpPr>
          <p:cNvPr id="3" name="Content Placeholder 2">
            <a:extLst>
              <a:ext uri="{FF2B5EF4-FFF2-40B4-BE49-F238E27FC236}">
                <a16:creationId xmlns:a16="http://schemas.microsoft.com/office/drawing/2014/main" id="{0223CA4F-FB36-2FF9-1325-0DCB7D9A8132}"/>
              </a:ext>
            </a:extLst>
          </p:cNvPr>
          <p:cNvSpPr>
            <a:spLocks noGrp="1"/>
          </p:cNvSpPr>
          <p:nvPr>
            <p:ph idx="1"/>
          </p:nvPr>
        </p:nvSpPr>
        <p:spPr>
          <a:xfrm>
            <a:off x="1371599" y="2318197"/>
            <a:ext cx="9724031" cy="3683358"/>
          </a:xfrm>
        </p:spPr>
        <p:txBody>
          <a:bodyPr anchor="ctr">
            <a:normAutofit/>
          </a:bodyPr>
          <a:lstStyle/>
          <a:p>
            <a:r>
              <a:rPr lang="en-US" sz="2000" dirty="0"/>
              <a:t>Balancing </a:t>
            </a:r>
            <a:r>
              <a:rPr lang="en-US" sz="2000" b="1" dirty="0"/>
              <a:t>security and usability</a:t>
            </a:r>
          </a:p>
          <a:p>
            <a:r>
              <a:rPr lang="en-US" sz="2000" dirty="0"/>
              <a:t>Evolving cyber threats</a:t>
            </a:r>
          </a:p>
          <a:p>
            <a:r>
              <a:rPr lang="en-US" sz="2000" dirty="0"/>
              <a:t>Human errors &amp; insider risks</a:t>
            </a:r>
          </a:p>
          <a:p>
            <a:r>
              <a:rPr lang="en-US" sz="2000" b="1" dirty="0"/>
              <a:t>Ongoing investment </a:t>
            </a:r>
            <a:r>
              <a:rPr lang="en-US" sz="2000" dirty="0"/>
              <a:t>in tools &amp; training</a:t>
            </a:r>
          </a:p>
          <a:p>
            <a:pPr marL="0" indent="0">
              <a:buNone/>
            </a:pPr>
            <a:r>
              <a:rPr lang="en-US" sz="2000" dirty="0"/>
              <a:t>(Axelos Limited, 2019)</a:t>
            </a:r>
          </a:p>
        </p:txBody>
      </p:sp>
    </p:spTree>
    <p:extLst>
      <p:ext uri="{BB962C8B-B14F-4D97-AF65-F5344CB8AC3E}">
        <p14:creationId xmlns:p14="http://schemas.microsoft.com/office/powerpoint/2010/main" val="3995197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50533-160E-5309-C140-720EAA2DC0E7}"/>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Conclusion</a:t>
            </a:r>
            <a:endParaRPr lang="en-US" sz="4000">
              <a:solidFill>
                <a:srgbClr val="FFFFFF"/>
              </a:solidFill>
            </a:endParaRPr>
          </a:p>
        </p:txBody>
      </p:sp>
      <p:sp>
        <p:nvSpPr>
          <p:cNvPr id="3" name="Content Placeholder 2">
            <a:extLst>
              <a:ext uri="{FF2B5EF4-FFF2-40B4-BE49-F238E27FC236}">
                <a16:creationId xmlns:a16="http://schemas.microsoft.com/office/drawing/2014/main" id="{25BBEC0C-176F-4532-5430-27E7D98BD6D0}"/>
              </a:ext>
            </a:extLst>
          </p:cNvPr>
          <p:cNvSpPr>
            <a:spLocks noGrp="1"/>
          </p:cNvSpPr>
          <p:nvPr>
            <p:ph idx="1"/>
          </p:nvPr>
        </p:nvSpPr>
        <p:spPr>
          <a:xfrm>
            <a:off x="1371599" y="2318197"/>
            <a:ext cx="9724031" cy="3683358"/>
          </a:xfrm>
        </p:spPr>
        <p:txBody>
          <a:bodyPr anchor="ctr">
            <a:normAutofit/>
          </a:bodyPr>
          <a:lstStyle/>
          <a:p>
            <a:r>
              <a:rPr lang="en-US" sz="2000" dirty="0"/>
              <a:t>ISM ensures </a:t>
            </a:r>
            <a:r>
              <a:rPr lang="en-US" sz="2000" b="1" dirty="0"/>
              <a:t>confidentiality, integrity, and availability</a:t>
            </a:r>
          </a:p>
          <a:p>
            <a:r>
              <a:rPr lang="en-US" sz="2000" dirty="0"/>
              <a:t>Adds value through </a:t>
            </a:r>
            <a:r>
              <a:rPr lang="en-US" sz="2000" b="1" dirty="0"/>
              <a:t>trust, compliance, and resilience</a:t>
            </a:r>
          </a:p>
          <a:p>
            <a:r>
              <a:rPr lang="en-US" sz="2000" dirty="0"/>
              <a:t>Requires </a:t>
            </a:r>
            <a:r>
              <a:rPr lang="en-US" sz="2000" b="1" dirty="0"/>
              <a:t>continuous improvement</a:t>
            </a:r>
          </a:p>
        </p:txBody>
      </p:sp>
    </p:spTree>
    <p:extLst>
      <p:ext uri="{BB962C8B-B14F-4D97-AF65-F5344CB8AC3E}">
        <p14:creationId xmlns:p14="http://schemas.microsoft.com/office/powerpoint/2010/main" val="3658911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3CC5E0-6FB3-28A7-4135-C52908CEE059}"/>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References</a:t>
            </a:r>
          </a:p>
        </p:txBody>
      </p:sp>
      <p:sp>
        <p:nvSpPr>
          <p:cNvPr id="3" name="Content Placeholder 2">
            <a:extLst>
              <a:ext uri="{FF2B5EF4-FFF2-40B4-BE49-F238E27FC236}">
                <a16:creationId xmlns:a16="http://schemas.microsoft.com/office/drawing/2014/main" id="{44A56355-4154-38D3-8510-57445428F67D}"/>
              </a:ext>
            </a:extLst>
          </p:cNvPr>
          <p:cNvSpPr>
            <a:spLocks noGrp="1"/>
          </p:cNvSpPr>
          <p:nvPr>
            <p:ph idx="1"/>
          </p:nvPr>
        </p:nvSpPr>
        <p:spPr>
          <a:xfrm>
            <a:off x="1371599" y="2318197"/>
            <a:ext cx="9724031" cy="3683358"/>
          </a:xfrm>
        </p:spPr>
        <p:txBody>
          <a:bodyPr anchor="ctr">
            <a:normAutofit lnSpcReduction="10000"/>
          </a:bodyPr>
          <a:lstStyle/>
          <a:p>
            <a:pPr marL="0" indent="0">
              <a:buNone/>
            </a:pPr>
            <a:endParaRPr lang="en-US" sz="1700" dirty="0"/>
          </a:p>
          <a:p>
            <a:pPr marL="0" indent="0">
              <a:buNone/>
            </a:pPr>
            <a:r>
              <a:rPr lang="en-US" sz="1700" dirty="0"/>
              <a:t>Axelos Limited. (2019). </a:t>
            </a:r>
            <a:r>
              <a:rPr lang="en-US" sz="1700" i="1" dirty="0"/>
              <a:t>ITIL foundation: ITIL 4 edition</a:t>
            </a:r>
            <a:r>
              <a:rPr lang="en-US" sz="1700" dirty="0"/>
              <a:t>. The Stationery Office.</a:t>
            </a:r>
          </a:p>
          <a:p>
            <a:pPr marL="0" indent="0">
              <a:buNone/>
            </a:pPr>
            <a:endParaRPr lang="en-US" sz="1700" dirty="0"/>
          </a:p>
          <a:p>
            <a:pPr marL="0" indent="0">
              <a:buNone/>
            </a:pPr>
            <a:r>
              <a:rPr lang="en-US" sz="1700" dirty="0" err="1"/>
              <a:t>Thejendra</a:t>
            </a:r>
            <a:r>
              <a:rPr lang="en-US" sz="1700" dirty="0"/>
              <a:t>, B. S. (2014). </a:t>
            </a:r>
            <a:r>
              <a:rPr lang="en-US" sz="1700" i="1" dirty="0"/>
              <a:t>Practical IT service management: A concise guide for busy executives</a:t>
            </a:r>
            <a:r>
              <a:rPr lang="en-US" sz="1700" dirty="0"/>
              <a:t> (2:a </a:t>
            </a:r>
            <a:r>
              <a:rPr lang="en-US" sz="1700" dirty="0" err="1"/>
              <a:t>uppl</a:t>
            </a:r>
            <a:r>
              <a:rPr lang="en-US" sz="1700" dirty="0"/>
              <a:t>.). IT Governance Publishing.</a:t>
            </a:r>
          </a:p>
          <a:p>
            <a:pPr marL="0" indent="0">
              <a:buNone/>
            </a:pPr>
            <a:endParaRPr lang="en-US" sz="1700" dirty="0"/>
          </a:p>
          <a:p>
            <a:pPr marL="0" indent="0">
              <a:buNone/>
            </a:pPr>
            <a:r>
              <a:rPr lang="en-US" sz="1700" dirty="0"/>
              <a:t>International Organization for Standardization. (2013). </a:t>
            </a:r>
            <a:r>
              <a:rPr lang="en-US" sz="1700" i="1" dirty="0"/>
              <a:t>ISO/IEC 27001:2013 information technology – security techniques – information security management systems – requirements</a:t>
            </a:r>
            <a:r>
              <a:rPr lang="en-US" sz="1700" dirty="0"/>
              <a:t>. ISO.</a:t>
            </a:r>
          </a:p>
          <a:p>
            <a:pPr marL="0" indent="0">
              <a:buNone/>
            </a:pPr>
            <a:endParaRPr lang="en-US" sz="1700" dirty="0"/>
          </a:p>
          <a:p>
            <a:pPr marL="0" indent="0">
              <a:buNone/>
            </a:pPr>
            <a:r>
              <a:rPr lang="en-US" sz="1700" dirty="0"/>
              <a:t>European Union. (2016). </a:t>
            </a:r>
            <a:r>
              <a:rPr lang="en-US" sz="1700" i="1" dirty="0"/>
              <a:t>Regulation (EU) 2016/679 of the European Parliament and of the Council of 27 April 2016 on the protection of natural persons with regard to the processing of personal data and on the free movement of such data (General Data Protection Regulation).</a:t>
            </a:r>
            <a:r>
              <a:rPr lang="en-US" sz="1700" dirty="0"/>
              <a:t> Official Journal of the European Union, L119, 1–88. </a:t>
            </a:r>
            <a:r>
              <a:rPr lang="en-US" sz="1700" dirty="0">
                <a:hlinkClick r:id="rId2"/>
              </a:rPr>
              <a:t>https://eur-lex.europa.eu/eli/reg/2016/679/oj</a:t>
            </a:r>
            <a:r>
              <a:rPr lang="en-US" sz="1700" dirty="0"/>
              <a:t> </a:t>
            </a:r>
          </a:p>
          <a:p>
            <a:pPr marL="0" indent="0">
              <a:buNone/>
            </a:pPr>
            <a:endParaRPr lang="en-US" sz="1700" dirty="0"/>
          </a:p>
        </p:txBody>
      </p:sp>
    </p:spTree>
    <p:extLst>
      <p:ext uri="{BB962C8B-B14F-4D97-AF65-F5344CB8AC3E}">
        <p14:creationId xmlns:p14="http://schemas.microsoft.com/office/powerpoint/2010/main" val="1322808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332</Words>
  <Application>Microsoft Macintosh PowerPoint</Application>
  <PresentationFormat>Widescreen</PresentationFormat>
  <Paragraphs>40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Information Security Management</vt:lpstr>
      <vt:lpstr>Role of Information Security Management</vt:lpstr>
      <vt:lpstr>Key Activities</vt:lpstr>
      <vt:lpstr>Importance and Value</vt:lpstr>
      <vt:lpstr>Challenges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Adrian Nasrat (Student)</dc:creator>
  <cp:lastModifiedBy>Ali Adrian Nasrat (Student)</cp:lastModifiedBy>
  <cp:revision>6</cp:revision>
  <dcterms:created xsi:type="dcterms:W3CDTF">2025-09-23T07:48:32Z</dcterms:created>
  <dcterms:modified xsi:type="dcterms:W3CDTF">2025-09-24T18:20:21Z</dcterms:modified>
</cp:coreProperties>
</file>