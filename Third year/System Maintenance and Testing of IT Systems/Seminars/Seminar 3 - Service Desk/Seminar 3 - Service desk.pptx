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66" r:id="rId4"/>
    <p:sldId id="259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811"/>
    <p:restoredTop sz="94630"/>
  </p:normalViewPr>
  <p:slideViewPr>
    <p:cSldViewPr snapToGrid="0">
      <p:cViewPr varScale="1">
        <p:scale>
          <a:sx n="207" d="100"/>
          <a:sy n="207" d="100"/>
        </p:scale>
        <p:origin x="12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9C153-9682-F3B9-55E7-C2DB015093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701703-F09D-4A15-2ADF-0744C2A3C6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FEFE39-65C9-ED2E-A012-7AA563D66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27309-30D6-984B-94F5-B730F5F2B9F7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A1AB45-E778-1C19-9B6C-863416BD0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773C2-5CF4-E94B-0D66-ACDD6312F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3766F-C5DC-7D43-963E-440E2CAF9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577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A668A-1F76-0800-BA5B-8D09815DF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21277-C3BB-D413-8F8B-0D31F85FA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BE224F-4F0D-49B1-5862-CB1E6FA81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27309-30D6-984B-94F5-B730F5F2B9F7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552790-F575-1070-FB64-1D6AF9D43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22CA5-39EA-6D88-6B7D-A0B77D378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3766F-C5DC-7D43-963E-440E2CAF9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479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AC31D-5F5C-0514-231C-07E93A562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A734C-7B97-CD0D-0455-CDBE641ECA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86603-0551-FC55-B61B-ABE992617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27309-30D6-984B-94F5-B730F5F2B9F7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83AB9F-31D4-52EA-BE03-1C9BFD022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48FB9-7D51-16BE-9BD8-50DBAE2AA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3766F-C5DC-7D43-963E-440E2CAF9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442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78672-5116-9F12-5ECF-EDBE64B65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46EE0-39A8-80FD-A160-38F91A67B9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2CF9C2-3440-3F57-4589-6D39067CB9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2DE4F9-CBA0-6898-2EC0-B82FFBBC8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27309-30D6-984B-94F5-B730F5F2B9F7}" type="datetimeFigureOut">
              <a:rPr lang="en-US" smtClean="0"/>
              <a:t>9/17/25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410AC2-1D95-5634-AC5E-7B8C3A59D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7EAE12-58E2-83F8-9947-1FA8A774F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3766F-C5DC-7D43-963E-440E2CAF9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729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80605-408A-92F4-8F96-EABF39997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A9B94C-6D2F-5F4C-A22B-01970FD99E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D99EF4-B3EF-2467-D557-31FD6D5668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36253D-F07B-5B7C-1E85-4F7A942D99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6FDABD-24B2-5914-5827-457D9CD04A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C09706-A422-AE50-E180-1D9F5AA34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27309-30D6-984B-94F5-B730F5F2B9F7}" type="datetimeFigureOut">
              <a:rPr lang="en-US" smtClean="0"/>
              <a:t>9/17/25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3CD8D7-3170-F898-692F-A4F065721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5F19B5-4EAC-20EF-93C0-E41B884B3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3766F-C5DC-7D43-963E-440E2CAF9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125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5A806-CE78-B434-5F01-1E7A7EA85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C7B0AB-ED4E-5725-06E2-345A14D0C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27309-30D6-984B-94F5-B730F5F2B9F7}" type="datetimeFigureOut">
              <a:rPr lang="en-US" smtClean="0"/>
              <a:t>9/17/25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4C0F94-AAB3-40FA-B84B-BF80EEDB3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5E0EEE-77DE-0671-7038-99BD82F4F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3766F-C5DC-7D43-963E-440E2CAF9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029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9787DD-2D12-BE09-7AF1-3233FD6B2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27309-30D6-984B-94F5-B730F5F2B9F7}" type="datetimeFigureOut">
              <a:rPr lang="en-US" smtClean="0"/>
              <a:t>9/17/25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876928-161F-587B-47D2-2ED8C8B49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AC83D9-AD9C-B9E3-0298-778562AE1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3766F-C5DC-7D43-963E-440E2CAF9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153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12DAD-5B8B-4CC1-50C3-79322B0C0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ADBAB-8E30-51CE-F517-7F413506B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6E740F-4F96-0177-9D44-8C43103A68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6147F3-0A96-DEA8-597C-51E0BA1C6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27309-30D6-984B-94F5-B730F5F2B9F7}" type="datetimeFigureOut">
              <a:rPr lang="en-US" smtClean="0"/>
              <a:t>9/17/25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7D67B8-EF03-5AEB-2E11-BB8C12F2A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1DD0E1-EA7E-FB7B-FABA-58205EE1D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3766F-C5DC-7D43-963E-440E2CAF9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961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70B6E-EA95-4E11-6D8B-A6D93022F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F99CDA-3A4F-F983-AA06-8C8449E470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60419A-34FD-A7BA-6937-75B6B74781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BA5595-5B67-4104-E828-B5B700579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27309-30D6-984B-94F5-B730F5F2B9F7}" type="datetimeFigureOut">
              <a:rPr lang="en-US" smtClean="0"/>
              <a:t>9/17/25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EA076-BF1B-83EE-0580-1A2ED0A06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5E8B25-FAFC-5377-DCFE-BFD56D67D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3766F-C5DC-7D43-963E-440E2CAF9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845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72C1C-F1C7-9B2A-B6A7-864099D85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B511FD-06E9-F5E8-0FEB-F6C1FCC531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C614AD-EEE9-4F58-FDFA-62962225F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27309-30D6-984B-94F5-B730F5F2B9F7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1BECD-1B77-765D-1854-127B64D02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0BDAC-7DD9-19B9-EA14-9873BA176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3766F-C5DC-7D43-963E-440E2CAF9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165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299141-1A9F-B71F-CC22-4D324C0FCC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929D81-E851-4609-11C0-FBDEE5CC7A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85B9D-0308-E99A-0E09-B76F7990B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27309-30D6-984B-94F5-B730F5F2B9F7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6078E-B9EF-3B73-3381-0FD2CFC0E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45ED8-5B78-B09C-4854-AE66D43DA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3766F-C5DC-7D43-963E-440E2CAF9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658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F0E3E1-ADD2-7E98-5597-4059D1F02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148BEB-B338-A09E-DE16-DB4B7CD068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445B5-9AC9-9864-2BCE-674EA7D6BD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127309-30D6-984B-94F5-B730F5F2B9F7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D6023-06D9-A0CF-D006-04DFB782AA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02D8E-B959-49E1-8534-7C6A7D7D3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13766F-C5DC-7D43-963E-440E2CAF9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859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AC00C7-7DBB-B6F3-E7F9-4EE5C60701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400" b="1" dirty="0">
                <a:solidFill>
                  <a:srgbClr val="FFFFFF"/>
                </a:solidFill>
              </a:rPr>
              <a:t>Service Desk – ITIL 4 Operational Practice</a:t>
            </a:r>
            <a:endParaRPr lang="en-US" sz="44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179263-7DEA-9023-B9FF-29068AA01B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Ali Adrian Nasrat</a:t>
            </a:r>
          </a:p>
        </p:txBody>
      </p:sp>
    </p:spTree>
    <p:extLst>
      <p:ext uri="{BB962C8B-B14F-4D97-AF65-F5344CB8AC3E}">
        <p14:creationId xmlns:p14="http://schemas.microsoft.com/office/powerpoint/2010/main" val="826549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B40284-3DF8-AD76-FA93-059E3EEE5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Role of the Service Desk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5F70E-79F3-8A75-8730-A8D56FCD4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Single point of contact between users and IT service provider</a:t>
            </a:r>
          </a:p>
          <a:p>
            <a:r>
              <a:rPr lang="en-US" sz="2000" dirty="0"/>
              <a:t>Handles incidents, requests, and communication</a:t>
            </a:r>
          </a:p>
          <a:p>
            <a:r>
              <a:rPr lang="en-US" sz="2000" dirty="0"/>
              <a:t>Improves user experience and satisfaction</a:t>
            </a:r>
          </a:p>
          <a:p>
            <a:pPr marL="0" indent="0">
              <a:buNone/>
            </a:pPr>
            <a:r>
              <a:rPr lang="en-US" sz="2000" dirty="0"/>
              <a:t>(Axelos Limited, 2019)</a:t>
            </a:r>
          </a:p>
        </p:txBody>
      </p:sp>
    </p:spTree>
    <p:extLst>
      <p:ext uri="{BB962C8B-B14F-4D97-AF65-F5344CB8AC3E}">
        <p14:creationId xmlns:p14="http://schemas.microsoft.com/office/powerpoint/2010/main" val="3851980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E1BE17-7FE4-A84F-1FE6-9E4866BB8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FEA0E4B-CC1F-5DD1-DCE7-80097EC38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1A6C3C-9425-76D2-A487-8B9C15629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4273DE-439F-349D-51EC-2B77838A61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10417A-6D7D-A59B-98B9-C58A939F6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8E2FA3-9E3B-2087-9173-E92021298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CB2DF4-6C40-FD35-62A5-6C43302DE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Key Activities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E808E-D3A9-3BFE-1A8B-6363D7404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Incident logging and tracking</a:t>
            </a:r>
          </a:p>
          <a:p>
            <a:r>
              <a:rPr lang="en-US" sz="2000" dirty="0"/>
              <a:t>Service request handling</a:t>
            </a:r>
          </a:p>
          <a:p>
            <a:r>
              <a:rPr lang="en-US" sz="2000" dirty="0"/>
              <a:t>Communication and updates to users</a:t>
            </a:r>
          </a:p>
          <a:p>
            <a:r>
              <a:rPr lang="en-US" sz="2000" dirty="0"/>
              <a:t>Escalation when needed</a:t>
            </a:r>
          </a:p>
          <a:p>
            <a:pPr marL="0" indent="0">
              <a:buNone/>
            </a:pPr>
            <a:r>
              <a:rPr lang="en-US" sz="2000" dirty="0"/>
              <a:t>(Axelos Limited, 2019; </a:t>
            </a:r>
            <a:r>
              <a:rPr lang="en-US" sz="2000" dirty="0" err="1"/>
              <a:t>Thejendra</a:t>
            </a:r>
            <a:r>
              <a:rPr lang="en-US" sz="2000" dirty="0"/>
              <a:t>, 2014)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63619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2AD4D8-A773-AA91-BCCC-4116E8675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 Importance and Value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A72D9-96A3-7321-2107-4254E178A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/>
              <a:t>Improves efficiency by streamlining communication</a:t>
            </a:r>
          </a:p>
          <a:p>
            <a:r>
              <a:rPr lang="en-US" sz="2000"/>
              <a:t>Enhances service quality and user satisfaction</a:t>
            </a:r>
          </a:p>
          <a:p>
            <a:r>
              <a:rPr lang="en-US" sz="2000"/>
              <a:t>Supports continual improvement through feedback and data</a:t>
            </a:r>
          </a:p>
          <a:p>
            <a:pPr marL="0" indent="0">
              <a:buNone/>
            </a:pPr>
            <a:r>
              <a:rPr lang="en-US" sz="2000"/>
              <a:t>(Axelos Limited, 2019; Thejendra, 2014)</a:t>
            </a:r>
          </a:p>
          <a:p>
            <a:pPr marL="0" indent="0">
              <a:buNone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026101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7D0A49-BF36-5247-B8CE-4AED3659B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References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A4242-BA2A-8DCC-B1F8-8C4BD19E3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/>
              <a:t>Axelos Limited. (2019). </a:t>
            </a:r>
            <a:r>
              <a:rPr lang="en-US" sz="2000" i="1" dirty="0"/>
              <a:t>ITIL foundation: ITIL 4 edition</a:t>
            </a:r>
            <a:r>
              <a:rPr lang="en-US" sz="2000" dirty="0"/>
              <a:t>. The Stationery Office.</a:t>
            </a:r>
          </a:p>
          <a:p>
            <a:pPr marL="0" indent="0">
              <a:buNone/>
            </a:pPr>
            <a:r>
              <a:rPr lang="en-US" sz="2000" dirty="0" err="1"/>
              <a:t>Thejendra</a:t>
            </a:r>
            <a:r>
              <a:rPr lang="en-US" sz="2000" dirty="0"/>
              <a:t>, B. S. (2014). </a:t>
            </a:r>
            <a:r>
              <a:rPr lang="en-US" sz="2000" i="1" dirty="0"/>
              <a:t>Practical IT service management: A concise guide for busy executives</a:t>
            </a:r>
            <a:r>
              <a:rPr lang="en-US" sz="2000" dirty="0"/>
              <a:t> (2:a </a:t>
            </a:r>
            <a:r>
              <a:rPr lang="en-US" sz="2000" dirty="0" err="1"/>
              <a:t>uppl</a:t>
            </a:r>
            <a:r>
              <a:rPr lang="en-US" sz="2000" dirty="0"/>
              <a:t>.). IT Governance Publishing.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43849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150</Words>
  <Application>Microsoft Macintosh PowerPoint</Application>
  <PresentationFormat>Widescreen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Service Desk – ITIL 4 Operational Practice</vt:lpstr>
      <vt:lpstr>Role of the Service Desk</vt:lpstr>
      <vt:lpstr>Key Activities</vt:lpstr>
      <vt:lpstr> Importance and Value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Adrian Nasrat (Student)</dc:creator>
  <cp:lastModifiedBy>Ali Adrian Nasrat (Student)</cp:lastModifiedBy>
  <cp:revision>1</cp:revision>
  <dcterms:created xsi:type="dcterms:W3CDTF">2025-09-16T23:43:23Z</dcterms:created>
  <dcterms:modified xsi:type="dcterms:W3CDTF">2025-09-17T00:01:54Z</dcterms:modified>
</cp:coreProperties>
</file>